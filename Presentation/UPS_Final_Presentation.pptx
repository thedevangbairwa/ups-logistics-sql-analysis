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5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6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7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4"/>
  </p:sldMasterIdLst>
  <p:notesMasterIdLst>
    <p:notesMasterId r:id="rId14"/>
  </p:notesMasterIdLst>
  <p:handoutMasterIdLst>
    <p:handoutMasterId r:id="rId15"/>
  </p:handoutMasterIdLst>
  <p:sldIdLst>
    <p:sldId id="258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28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E7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9" autoAdjust="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eer\OneDrive\Desktop\Job%20Hunting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orders </a:t>
            </a:r>
            <a:r>
              <a:rPr lang="en-US" sz="1400" dirty="0">
                <a:solidFill>
                  <a:srgbClr val="FF0000"/>
                </a:solidFill>
              </a:rPr>
              <a:t>vs</a:t>
            </a:r>
            <a:r>
              <a:rPr lang="en-US" sz="1400" dirty="0"/>
              <a:t> warehouse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Sheet1!$D$13</c:f>
              <c:strCache>
                <c:ptCount val="1"/>
                <c:pt idx="0">
                  <c:v>Total_Orders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Sheet1!$C$14:$C$23</c:f>
              <c:strCache>
                <c:ptCount val="10"/>
                <c:pt idx="0">
                  <c:v>W010</c:v>
                </c:pt>
                <c:pt idx="1">
                  <c:v>W001</c:v>
                </c:pt>
                <c:pt idx="2">
                  <c:v>W007</c:v>
                </c:pt>
                <c:pt idx="3">
                  <c:v>W005</c:v>
                </c:pt>
                <c:pt idx="4">
                  <c:v>W009</c:v>
                </c:pt>
                <c:pt idx="5">
                  <c:v>W003</c:v>
                </c:pt>
                <c:pt idx="6">
                  <c:v>W004</c:v>
                </c:pt>
                <c:pt idx="7">
                  <c:v>W006</c:v>
                </c:pt>
                <c:pt idx="8">
                  <c:v>W002</c:v>
                </c:pt>
                <c:pt idx="9">
                  <c:v>W008</c:v>
                </c:pt>
              </c:strCache>
            </c:strRef>
          </c:cat>
          <c:val>
            <c:numRef>
              <c:f>Sheet1!$D$14:$D$23</c:f>
              <c:numCache>
                <c:formatCode>General</c:formatCode>
                <c:ptCount val="10"/>
                <c:pt idx="0">
                  <c:v>30</c:v>
                </c:pt>
                <c:pt idx="1">
                  <c:v>34</c:v>
                </c:pt>
                <c:pt idx="2">
                  <c:v>38</c:v>
                </c:pt>
                <c:pt idx="3">
                  <c:v>25</c:v>
                </c:pt>
                <c:pt idx="4">
                  <c:v>33</c:v>
                </c:pt>
                <c:pt idx="5">
                  <c:v>23</c:v>
                </c:pt>
                <c:pt idx="6">
                  <c:v>31</c:v>
                </c:pt>
                <c:pt idx="7">
                  <c:v>37</c:v>
                </c:pt>
                <c:pt idx="8">
                  <c:v>28</c:v>
                </c:pt>
                <c:pt idx="9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BF-4E9B-8586-66A84843E2B1}"/>
            </c:ext>
          </c:extLst>
        </c:ser>
        <c:ser>
          <c:idx val="1"/>
          <c:order val="1"/>
          <c:tx>
            <c:strRef>
              <c:f>Sheet1!$E$13</c:f>
              <c:strCache>
                <c:ptCount val="1"/>
                <c:pt idx="0">
                  <c:v>Delayed_Orders</c:v>
                </c:pt>
              </c:strCache>
            </c:strRef>
          </c:tx>
          <c:spPr>
            <a:solidFill>
              <a:srgbClr val="FF99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Sheet1!$C$14:$C$23</c:f>
              <c:strCache>
                <c:ptCount val="10"/>
                <c:pt idx="0">
                  <c:v>W010</c:v>
                </c:pt>
                <c:pt idx="1">
                  <c:v>W001</c:v>
                </c:pt>
                <c:pt idx="2">
                  <c:v>W007</c:v>
                </c:pt>
                <c:pt idx="3">
                  <c:v>W005</c:v>
                </c:pt>
                <c:pt idx="4">
                  <c:v>W009</c:v>
                </c:pt>
                <c:pt idx="5">
                  <c:v>W003</c:v>
                </c:pt>
                <c:pt idx="6">
                  <c:v>W004</c:v>
                </c:pt>
                <c:pt idx="7">
                  <c:v>W006</c:v>
                </c:pt>
                <c:pt idx="8">
                  <c:v>W002</c:v>
                </c:pt>
                <c:pt idx="9">
                  <c:v>W008</c:v>
                </c:pt>
              </c:strCache>
            </c:strRef>
          </c:cat>
          <c:val>
            <c:numRef>
              <c:f>Sheet1!$E$14:$E$23</c:f>
              <c:numCache>
                <c:formatCode>General</c:formatCode>
                <c:ptCount val="10"/>
                <c:pt idx="0">
                  <c:v>20</c:v>
                </c:pt>
                <c:pt idx="1">
                  <c:v>18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13</c:v>
                </c:pt>
                <c:pt idx="6">
                  <c:v>12</c:v>
                </c:pt>
                <c:pt idx="7">
                  <c:v>12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BF-4E9B-8586-66A84843E2B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2008289856"/>
        <c:axId val="2008293696"/>
      </c:barChart>
      <c:catAx>
        <c:axId val="20082898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Warehouse</a:t>
                </a:r>
                <a:r>
                  <a:rPr lang="en-US" baseline="0"/>
                  <a:t> id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8293696"/>
        <c:crosses val="autoZero"/>
        <c:auto val="1"/>
        <c:lblAlgn val="ctr"/>
        <c:lblOffset val="100"/>
        <c:noMultiLvlLbl val="0"/>
      </c:catAx>
      <c:valAx>
        <c:axId val="20082936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08289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cap="all" spc="12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/>
              <a:t>Avg Delay Days </a:t>
            </a:r>
            <a:r>
              <a:rPr lang="en-US" sz="1400" b="1" dirty="0">
                <a:solidFill>
                  <a:srgbClr val="FF0000"/>
                </a:solidFill>
              </a:rPr>
              <a:t>vs</a:t>
            </a:r>
            <a:r>
              <a:rPr lang="en-US" sz="1400" b="1" dirty="0"/>
              <a:t>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cap="all" spc="120" normalizeH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Avg_Delay_Days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Sheet1!$C$2:$C$11</c:f>
              <c:strCache>
                <c:ptCount val="10"/>
                <c:pt idx="0">
                  <c:v>R012</c:v>
                </c:pt>
                <c:pt idx="1">
                  <c:v>R020</c:v>
                </c:pt>
                <c:pt idx="2">
                  <c:v>R017</c:v>
                </c:pt>
                <c:pt idx="3">
                  <c:v>R015</c:v>
                </c:pt>
                <c:pt idx="4">
                  <c:v>R005</c:v>
                </c:pt>
                <c:pt idx="5">
                  <c:v>R004</c:v>
                </c:pt>
                <c:pt idx="6">
                  <c:v>R013</c:v>
                </c:pt>
                <c:pt idx="7">
                  <c:v>R011</c:v>
                </c:pt>
                <c:pt idx="8">
                  <c:v>R010</c:v>
                </c:pt>
                <c:pt idx="9">
                  <c:v>R007</c:v>
                </c:pt>
              </c:strCache>
            </c:strRef>
          </c:cat>
          <c:val>
            <c:numRef>
              <c:f>Sheet1!$D$2:$D$11</c:f>
              <c:numCache>
                <c:formatCode>0.00</c:formatCode>
                <c:ptCount val="10"/>
                <c:pt idx="0">
                  <c:v>1.0832999999999999</c:v>
                </c:pt>
                <c:pt idx="1">
                  <c:v>1.0588</c:v>
                </c:pt>
                <c:pt idx="2">
                  <c:v>1</c:v>
                </c:pt>
                <c:pt idx="3">
                  <c:v>1</c:v>
                </c:pt>
                <c:pt idx="4">
                  <c:v>0.8</c:v>
                </c:pt>
                <c:pt idx="5">
                  <c:v>0.8</c:v>
                </c:pt>
                <c:pt idx="6">
                  <c:v>0.76470000000000005</c:v>
                </c:pt>
                <c:pt idx="7">
                  <c:v>0.7</c:v>
                </c:pt>
                <c:pt idx="8">
                  <c:v>0.7</c:v>
                </c:pt>
                <c:pt idx="9">
                  <c:v>0.6875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66-4294-84F0-2240091126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438898736"/>
        <c:axId val="1438895856"/>
      </c:barChart>
      <c:catAx>
        <c:axId val="1438898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900" b="0" i="0" u="none" strike="noStrike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route 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900" b="0" i="0" u="none" strike="noStrike" kern="1200" cap="all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cap="all" spc="12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895856"/>
        <c:crosses val="autoZero"/>
        <c:auto val="1"/>
        <c:lblAlgn val="ctr"/>
        <c:lblOffset val="100"/>
        <c:noMultiLvlLbl val="0"/>
      </c:catAx>
      <c:valAx>
        <c:axId val="1438895856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438898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 dirty="0">
                <a:effectLst/>
              </a:rPr>
              <a:t>Top 3 Routes with Worst Efficiency Ratio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Sheet1!$D$95</c:f>
              <c:strCache>
                <c:ptCount val="1"/>
                <c:pt idx="0">
                  <c:v>Distance_KM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Sheet1!$C$96:$C$98</c:f>
              <c:strCache>
                <c:ptCount val="3"/>
                <c:pt idx="0">
                  <c:v>R016</c:v>
                </c:pt>
                <c:pt idx="1">
                  <c:v>R006</c:v>
                </c:pt>
                <c:pt idx="2">
                  <c:v>R008</c:v>
                </c:pt>
              </c:strCache>
            </c:strRef>
          </c:cat>
          <c:val>
            <c:numRef>
              <c:f>Sheet1!$D$96:$D$98</c:f>
              <c:numCache>
                <c:formatCode>General</c:formatCode>
                <c:ptCount val="3"/>
                <c:pt idx="0">
                  <c:v>25.1</c:v>
                </c:pt>
                <c:pt idx="1">
                  <c:v>29.4</c:v>
                </c:pt>
                <c:pt idx="2">
                  <c:v>52.4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E1-4D03-8085-53EF7C81530A}"/>
            </c:ext>
          </c:extLst>
        </c:ser>
        <c:ser>
          <c:idx val="1"/>
          <c:order val="1"/>
          <c:tx>
            <c:strRef>
              <c:f>Sheet1!$E$95</c:f>
              <c:strCache>
                <c:ptCount val="1"/>
                <c:pt idx="0">
                  <c:v>Average_Travel_Time_Min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Sheet1!$C$96:$C$98</c:f>
              <c:strCache>
                <c:ptCount val="3"/>
                <c:pt idx="0">
                  <c:v>R016</c:v>
                </c:pt>
                <c:pt idx="1">
                  <c:v>R006</c:v>
                </c:pt>
                <c:pt idx="2">
                  <c:v>R008</c:v>
                </c:pt>
              </c:strCache>
            </c:strRef>
          </c:cat>
          <c:val>
            <c:numRef>
              <c:f>Sheet1!$E$96:$E$98</c:f>
              <c:numCache>
                <c:formatCode>General</c:formatCode>
                <c:ptCount val="3"/>
                <c:pt idx="0">
                  <c:v>166</c:v>
                </c:pt>
                <c:pt idx="1">
                  <c:v>183</c:v>
                </c:pt>
                <c:pt idx="2">
                  <c:v>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E1-4D03-8085-53EF7C81530A}"/>
            </c:ext>
          </c:extLst>
        </c:ser>
        <c:ser>
          <c:idx val="2"/>
          <c:order val="2"/>
          <c:tx>
            <c:strRef>
              <c:f>Sheet1!$F$95</c:f>
              <c:strCache>
                <c:ptCount val="1"/>
                <c:pt idx="0">
                  <c:v>Efficiency_Ratio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Sheet1!$C$96:$C$98</c:f>
              <c:strCache>
                <c:ptCount val="3"/>
                <c:pt idx="0">
                  <c:v>R016</c:v>
                </c:pt>
                <c:pt idx="1">
                  <c:v>R006</c:v>
                </c:pt>
                <c:pt idx="2">
                  <c:v>R008</c:v>
                </c:pt>
              </c:strCache>
            </c:strRef>
          </c:cat>
          <c:val>
            <c:numRef>
              <c:f>Sheet1!$F$96:$F$98</c:f>
              <c:numCache>
                <c:formatCode>General</c:formatCode>
                <c:ptCount val="3"/>
                <c:pt idx="0">
                  <c:v>0.151</c:v>
                </c:pt>
                <c:pt idx="1">
                  <c:v>0.161</c:v>
                </c:pt>
                <c:pt idx="2">
                  <c:v>0.24399999999999999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E1-4D03-8085-53EF7C81530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37246848"/>
        <c:axId val="1537238688"/>
      </c:barChart>
      <c:catAx>
        <c:axId val="1537246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238688"/>
        <c:crosses val="autoZero"/>
        <c:auto val="1"/>
        <c:lblAlgn val="ctr"/>
        <c:lblOffset val="100"/>
        <c:noMultiLvlLbl val="0"/>
      </c:catAx>
      <c:valAx>
        <c:axId val="1537238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246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Delay</a:t>
            </a:r>
            <a:r>
              <a:rPr lang="en-US" baseline="0"/>
              <a:t> </a:t>
            </a:r>
            <a:r>
              <a:rPr lang="en-US"/>
              <a:t>Percentage </a:t>
            </a:r>
            <a:r>
              <a:rPr lang="en-US">
                <a:solidFill>
                  <a:srgbClr val="FF0000"/>
                </a:solidFill>
              </a:rPr>
              <a:t>VS</a:t>
            </a:r>
            <a:r>
              <a:rPr lang="en-US" baseline="0"/>
              <a:t> Route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Sheet1!$D$109</c:f>
              <c:strCache>
                <c:ptCount val="1"/>
                <c:pt idx="0">
                  <c:v>Delay_Percentage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Sheet1!$C$110:$C$129</c:f>
              <c:strCache>
                <c:ptCount val="20"/>
                <c:pt idx="0">
                  <c:v>R020</c:v>
                </c:pt>
                <c:pt idx="1">
                  <c:v>R012</c:v>
                </c:pt>
                <c:pt idx="2">
                  <c:v>R017</c:v>
                </c:pt>
                <c:pt idx="3">
                  <c:v>R013</c:v>
                </c:pt>
                <c:pt idx="4">
                  <c:v>R004</c:v>
                </c:pt>
                <c:pt idx="5">
                  <c:v>R015</c:v>
                </c:pt>
                <c:pt idx="6">
                  <c:v>R005</c:v>
                </c:pt>
                <c:pt idx="7">
                  <c:v>R011</c:v>
                </c:pt>
                <c:pt idx="8">
                  <c:v>R010</c:v>
                </c:pt>
                <c:pt idx="9">
                  <c:v>R007</c:v>
                </c:pt>
                <c:pt idx="10">
                  <c:v>R003</c:v>
                </c:pt>
                <c:pt idx="11">
                  <c:v>R001</c:v>
                </c:pt>
                <c:pt idx="12">
                  <c:v>R018</c:v>
                </c:pt>
                <c:pt idx="13">
                  <c:v>R014</c:v>
                </c:pt>
                <c:pt idx="14">
                  <c:v>R009</c:v>
                </c:pt>
                <c:pt idx="15">
                  <c:v>R006</c:v>
                </c:pt>
                <c:pt idx="16">
                  <c:v>R002</c:v>
                </c:pt>
                <c:pt idx="17">
                  <c:v>R008</c:v>
                </c:pt>
                <c:pt idx="18">
                  <c:v>R019</c:v>
                </c:pt>
                <c:pt idx="19">
                  <c:v>R016</c:v>
                </c:pt>
              </c:strCache>
            </c:strRef>
          </c:cat>
          <c:val>
            <c:numRef>
              <c:f>Sheet1!$D$110:$D$129</c:f>
              <c:numCache>
                <c:formatCode>General</c:formatCode>
                <c:ptCount val="20"/>
                <c:pt idx="0">
                  <c:v>70.59</c:v>
                </c:pt>
                <c:pt idx="1">
                  <c:v>66.67</c:v>
                </c:pt>
                <c:pt idx="2">
                  <c:v>57.14</c:v>
                </c:pt>
                <c:pt idx="3">
                  <c:v>52.94</c:v>
                </c:pt>
                <c:pt idx="4">
                  <c:v>50</c:v>
                </c:pt>
                <c:pt idx="5">
                  <c:v>50</c:v>
                </c:pt>
                <c:pt idx="6">
                  <c:v>46.67</c:v>
                </c:pt>
                <c:pt idx="7">
                  <c:v>45</c:v>
                </c:pt>
                <c:pt idx="8">
                  <c:v>45</c:v>
                </c:pt>
                <c:pt idx="9">
                  <c:v>43.75</c:v>
                </c:pt>
                <c:pt idx="10">
                  <c:v>40</c:v>
                </c:pt>
                <c:pt idx="11">
                  <c:v>40</c:v>
                </c:pt>
                <c:pt idx="12">
                  <c:v>40</c:v>
                </c:pt>
                <c:pt idx="13">
                  <c:v>38.46</c:v>
                </c:pt>
                <c:pt idx="14">
                  <c:v>37.5</c:v>
                </c:pt>
                <c:pt idx="15">
                  <c:v>36.36</c:v>
                </c:pt>
                <c:pt idx="16">
                  <c:v>31.82</c:v>
                </c:pt>
                <c:pt idx="17">
                  <c:v>31.25</c:v>
                </c:pt>
                <c:pt idx="18">
                  <c:v>30.77</c:v>
                </c:pt>
                <c:pt idx="19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F2-45CF-B08F-1F2FFF6D9E3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37303008"/>
        <c:axId val="1537305408"/>
      </c:barChart>
      <c:catAx>
        <c:axId val="153730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305408"/>
        <c:crosses val="autoZero"/>
        <c:auto val="1"/>
        <c:lblAlgn val="ctr"/>
        <c:lblOffset val="100"/>
        <c:noMultiLvlLbl val="0"/>
      </c:catAx>
      <c:valAx>
        <c:axId val="153730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30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</a:t>
            </a:r>
            <a:r>
              <a:rPr lang="en-US" baseline="0"/>
              <a:t> </a:t>
            </a:r>
            <a:r>
              <a:rPr lang="en-US"/>
              <a:t>Traffic</a:t>
            </a:r>
            <a:r>
              <a:rPr lang="en-US" baseline="0"/>
              <a:t> </a:t>
            </a:r>
            <a:r>
              <a:rPr lang="en-US"/>
              <a:t>Delay</a:t>
            </a:r>
            <a:r>
              <a:rPr lang="en-US" baseline="0"/>
              <a:t> (Min.) </a:t>
            </a:r>
            <a:r>
              <a:rPr lang="en-US" baseline="0">
                <a:solidFill>
                  <a:srgbClr val="FF0000"/>
                </a:solidFill>
              </a:rPr>
              <a:t>VS</a:t>
            </a:r>
            <a:r>
              <a:rPr lang="en-US" baseline="0"/>
              <a:t> Route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Sheet1!$D$49</c:f>
              <c:strCache>
                <c:ptCount val="1"/>
                <c:pt idx="0">
                  <c:v>Avg_Traffic_Delay_Min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Sheet1!$C$50:$C$69</c:f>
              <c:strCache>
                <c:ptCount val="20"/>
                <c:pt idx="0">
                  <c:v>R014</c:v>
                </c:pt>
                <c:pt idx="1">
                  <c:v>R007</c:v>
                </c:pt>
                <c:pt idx="2">
                  <c:v>R009</c:v>
                </c:pt>
                <c:pt idx="3">
                  <c:v>R006</c:v>
                </c:pt>
                <c:pt idx="4">
                  <c:v>R010</c:v>
                </c:pt>
                <c:pt idx="5">
                  <c:v>R013</c:v>
                </c:pt>
                <c:pt idx="6">
                  <c:v>R019</c:v>
                </c:pt>
                <c:pt idx="7">
                  <c:v>R001</c:v>
                </c:pt>
                <c:pt idx="8">
                  <c:v>R008</c:v>
                </c:pt>
                <c:pt idx="9">
                  <c:v>R012</c:v>
                </c:pt>
                <c:pt idx="10">
                  <c:v>R015</c:v>
                </c:pt>
                <c:pt idx="11">
                  <c:v>R005</c:v>
                </c:pt>
                <c:pt idx="12">
                  <c:v>R011</c:v>
                </c:pt>
                <c:pt idx="13">
                  <c:v>R020</c:v>
                </c:pt>
                <c:pt idx="14">
                  <c:v>R002</c:v>
                </c:pt>
                <c:pt idx="15">
                  <c:v>R003</c:v>
                </c:pt>
                <c:pt idx="16">
                  <c:v>R018</c:v>
                </c:pt>
                <c:pt idx="17">
                  <c:v>R016</c:v>
                </c:pt>
                <c:pt idx="18">
                  <c:v>R017</c:v>
                </c:pt>
                <c:pt idx="19">
                  <c:v>R004</c:v>
                </c:pt>
              </c:strCache>
            </c:strRef>
          </c:cat>
          <c:val>
            <c:numRef>
              <c:f>Sheet1!$D$50:$D$69</c:f>
              <c:numCache>
                <c:formatCode>General</c:formatCode>
                <c:ptCount val="20"/>
                <c:pt idx="0">
                  <c:v>58</c:v>
                </c:pt>
                <c:pt idx="1">
                  <c:v>51</c:v>
                </c:pt>
                <c:pt idx="2">
                  <c:v>46</c:v>
                </c:pt>
                <c:pt idx="3">
                  <c:v>42</c:v>
                </c:pt>
                <c:pt idx="4">
                  <c:v>40</c:v>
                </c:pt>
                <c:pt idx="5">
                  <c:v>38</c:v>
                </c:pt>
                <c:pt idx="6">
                  <c:v>37</c:v>
                </c:pt>
                <c:pt idx="7">
                  <c:v>36</c:v>
                </c:pt>
                <c:pt idx="8">
                  <c:v>34</c:v>
                </c:pt>
                <c:pt idx="9">
                  <c:v>29</c:v>
                </c:pt>
                <c:pt idx="10">
                  <c:v>29</c:v>
                </c:pt>
                <c:pt idx="11">
                  <c:v>26</c:v>
                </c:pt>
                <c:pt idx="12">
                  <c:v>25</c:v>
                </c:pt>
                <c:pt idx="13">
                  <c:v>23</c:v>
                </c:pt>
                <c:pt idx="14">
                  <c:v>22</c:v>
                </c:pt>
                <c:pt idx="15">
                  <c:v>11</c:v>
                </c:pt>
                <c:pt idx="16">
                  <c:v>11</c:v>
                </c:pt>
                <c:pt idx="17">
                  <c:v>8</c:v>
                </c:pt>
                <c:pt idx="18">
                  <c:v>8</c:v>
                </c:pt>
                <c:pt idx="1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F7-4D7A-A801-AF69961196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38936656"/>
        <c:axId val="1438933776"/>
      </c:barChart>
      <c:catAx>
        <c:axId val="143893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933776"/>
        <c:crosses val="autoZero"/>
        <c:auto val="1"/>
        <c:lblAlgn val="ctr"/>
        <c:lblOffset val="100"/>
        <c:noMultiLvlLbl val="0"/>
      </c:catAx>
      <c:valAx>
        <c:axId val="1438933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93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</a:t>
            </a:r>
            <a:r>
              <a:rPr lang="en-US" baseline="0"/>
              <a:t> </a:t>
            </a:r>
            <a:r>
              <a:rPr lang="en-US"/>
              <a:t>Delivery </a:t>
            </a:r>
            <a:r>
              <a:rPr lang="en-US">
                <a:solidFill>
                  <a:srgbClr val="FF0000"/>
                </a:solidFill>
              </a:rPr>
              <a:t>VS</a:t>
            </a:r>
            <a:r>
              <a:rPr lang="en-US"/>
              <a:t>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Sheet1!$D$26</c:f>
              <c:strCache>
                <c:ptCount val="1"/>
                <c:pt idx="0">
                  <c:v>Avg_Delivery_Time_Days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Sheet1!$C$27:$C$46</c:f>
              <c:strCache>
                <c:ptCount val="20"/>
                <c:pt idx="0">
                  <c:v>R015</c:v>
                </c:pt>
                <c:pt idx="1">
                  <c:v>R017</c:v>
                </c:pt>
                <c:pt idx="2">
                  <c:v>R020</c:v>
                </c:pt>
                <c:pt idx="3">
                  <c:v>R007</c:v>
                </c:pt>
                <c:pt idx="4">
                  <c:v>R014</c:v>
                </c:pt>
                <c:pt idx="5">
                  <c:v>R019</c:v>
                </c:pt>
                <c:pt idx="6">
                  <c:v>R011</c:v>
                </c:pt>
                <c:pt idx="7">
                  <c:v>R008</c:v>
                </c:pt>
                <c:pt idx="8">
                  <c:v>R016</c:v>
                </c:pt>
                <c:pt idx="9">
                  <c:v>R018</c:v>
                </c:pt>
                <c:pt idx="10">
                  <c:v>R010</c:v>
                </c:pt>
                <c:pt idx="11">
                  <c:v>R004</c:v>
                </c:pt>
                <c:pt idx="12">
                  <c:v>R005</c:v>
                </c:pt>
                <c:pt idx="13">
                  <c:v>R001</c:v>
                </c:pt>
                <c:pt idx="14">
                  <c:v>R009</c:v>
                </c:pt>
                <c:pt idx="15">
                  <c:v>R012</c:v>
                </c:pt>
                <c:pt idx="16">
                  <c:v>R006</c:v>
                </c:pt>
                <c:pt idx="17">
                  <c:v>R002</c:v>
                </c:pt>
                <c:pt idx="18">
                  <c:v>R003</c:v>
                </c:pt>
                <c:pt idx="19">
                  <c:v>R013</c:v>
                </c:pt>
              </c:strCache>
            </c:strRef>
          </c:cat>
          <c:val>
            <c:numRef>
              <c:f>Sheet1!$D$27:$D$46</c:f>
              <c:numCache>
                <c:formatCode>General</c:formatCode>
                <c:ptCount val="20"/>
                <c:pt idx="0">
                  <c:v>6.33</c:v>
                </c:pt>
                <c:pt idx="1">
                  <c:v>6.29</c:v>
                </c:pt>
                <c:pt idx="2">
                  <c:v>5.88</c:v>
                </c:pt>
                <c:pt idx="3">
                  <c:v>5.75</c:v>
                </c:pt>
                <c:pt idx="4">
                  <c:v>5.62</c:v>
                </c:pt>
                <c:pt idx="5">
                  <c:v>5.62</c:v>
                </c:pt>
                <c:pt idx="6">
                  <c:v>5.55</c:v>
                </c:pt>
                <c:pt idx="7">
                  <c:v>5.44</c:v>
                </c:pt>
                <c:pt idx="8">
                  <c:v>5.42</c:v>
                </c:pt>
                <c:pt idx="9">
                  <c:v>5.4</c:v>
                </c:pt>
                <c:pt idx="10">
                  <c:v>5.25</c:v>
                </c:pt>
                <c:pt idx="11">
                  <c:v>5.0999999999999996</c:v>
                </c:pt>
                <c:pt idx="12">
                  <c:v>5</c:v>
                </c:pt>
                <c:pt idx="13">
                  <c:v>5</c:v>
                </c:pt>
                <c:pt idx="14">
                  <c:v>4.88</c:v>
                </c:pt>
                <c:pt idx="15">
                  <c:v>4.83</c:v>
                </c:pt>
                <c:pt idx="16">
                  <c:v>4.82</c:v>
                </c:pt>
                <c:pt idx="17">
                  <c:v>4.7300000000000004</c:v>
                </c:pt>
                <c:pt idx="18">
                  <c:v>4.5</c:v>
                </c:pt>
                <c:pt idx="19">
                  <c:v>4.41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A3-4EF3-8E4C-AE492958DC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38929936"/>
        <c:axId val="1438923696"/>
      </c:barChart>
      <c:catAx>
        <c:axId val="1438929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923696"/>
        <c:crosses val="autoZero"/>
        <c:auto val="1"/>
        <c:lblAlgn val="ctr"/>
        <c:lblOffset val="100"/>
        <c:noMultiLvlLbl val="0"/>
      </c:catAx>
      <c:valAx>
        <c:axId val="1438923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929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3 Warehouse with highest Processing</a:t>
            </a:r>
            <a:r>
              <a:rPr lang="en-US" baseline="0"/>
              <a:t> </a:t>
            </a:r>
            <a:r>
              <a:rPr lang="en-US"/>
              <a:t>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Sheet1!$E$156</c:f>
              <c:strCache>
                <c:ptCount val="1"/>
                <c:pt idx="0">
                  <c:v>Processing_Time_Min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Sheet1!$C$157:$D$159</c:f>
              <c:multiLvlStrCache>
                <c:ptCount val="3"/>
                <c:lvl>
                  <c:pt idx="0">
                    <c:v>Davidshire</c:v>
                  </c:pt>
                  <c:pt idx="1">
                    <c:v>New Crystalborough</c:v>
                  </c:pt>
                  <c:pt idx="2">
                    <c:v>Port Juliachester</c:v>
                  </c:pt>
                </c:lvl>
                <c:lvl>
                  <c:pt idx="0">
                    <c:v>W010</c:v>
                  </c:pt>
                  <c:pt idx="1">
                    <c:v>W009</c:v>
                  </c:pt>
                  <c:pt idx="2">
                    <c:v>W007</c:v>
                  </c:pt>
                </c:lvl>
              </c:multiLvlStrCache>
            </c:multiLvlStrRef>
          </c:cat>
          <c:val>
            <c:numRef>
              <c:f>Sheet1!$E$157:$E$159</c:f>
              <c:numCache>
                <c:formatCode>General</c:formatCode>
                <c:ptCount val="3"/>
                <c:pt idx="0">
                  <c:v>171</c:v>
                </c:pt>
                <c:pt idx="1">
                  <c:v>170</c:v>
                </c:pt>
                <c:pt idx="2">
                  <c:v>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DF-4269-A6FF-A39FA47F04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37314048"/>
        <c:axId val="1537318368"/>
      </c:barChart>
      <c:catAx>
        <c:axId val="1537314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318368"/>
        <c:crosses val="autoZero"/>
        <c:auto val="1"/>
        <c:lblAlgn val="ctr"/>
        <c:lblOffset val="100"/>
        <c:noMultiLvlLbl val="0"/>
      </c:catAx>
      <c:valAx>
        <c:axId val="1537318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314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</a:t>
            </a:r>
            <a:r>
              <a:rPr lang="en-US">
                <a:solidFill>
                  <a:srgbClr val="FF0000"/>
                </a:solidFill>
              </a:rPr>
              <a:t>VS</a:t>
            </a:r>
            <a:r>
              <a:rPr lang="en-US"/>
              <a:t> Delayed Shipment</a:t>
            </a:r>
            <a:r>
              <a:rPr lang="en-US" baseline="0"/>
              <a:t> Per Warehouse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Sheet1!$D$171</c:f>
              <c:strCache>
                <c:ptCount val="1"/>
                <c:pt idx="0">
                  <c:v>Total_Shipments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Sheet1!$C$172:$C$181</c:f>
              <c:strCache>
                <c:ptCount val="10"/>
                <c:pt idx="0">
                  <c:v>W007</c:v>
                </c:pt>
                <c:pt idx="1">
                  <c:v>W006</c:v>
                </c:pt>
                <c:pt idx="2">
                  <c:v>W001</c:v>
                </c:pt>
                <c:pt idx="3">
                  <c:v>W009</c:v>
                </c:pt>
                <c:pt idx="4">
                  <c:v>W004</c:v>
                </c:pt>
                <c:pt idx="5">
                  <c:v>W010</c:v>
                </c:pt>
                <c:pt idx="6">
                  <c:v>W002</c:v>
                </c:pt>
                <c:pt idx="7">
                  <c:v>W005</c:v>
                </c:pt>
                <c:pt idx="8">
                  <c:v>W003</c:v>
                </c:pt>
                <c:pt idx="9">
                  <c:v>W008</c:v>
                </c:pt>
              </c:strCache>
            </c:strRef>
          </c:cat>
          <c:val>
            <c:numRef>
              <c:f>Sheet1!$D$172:$D$181</c:f>
              <c:numCache>
                <c:formatCode>General</c:formatCode>
                <c:ptCount val="10"/>
                <c:pt idx="0">
                  <c:v>38</c:v>
                </c:pt>
                <c:pt idx="1">
                  <c:v>37</c:v>
                </c:pt>
                <c:pt idx="2">
                  <c:v>34</c:v>
                </c:pt>
                <c:pt idx="3">
                  <c:v>33</c:v>
                </c:pt>
                <c:pt idx="4">
                  <c:v>31</c:v>
                </c:pt>
                <c:pt idx="5">
                  <c:v>30</c:v>
                </c:pt>
                <c:pt idx="6">
                  <c:v>28</c:v>
                </c:pt>
                <c:pt idx="7">
                  <c:v>25</c:v>
                </c:pt>
                <c:pt idx="8">
                  <c:v>23</c:v>
                </c:pt>
                <c:pt idx="9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A8-45DE-8AC9-53125B0C4C8B}"/>
            </c:ext>
          </c:extLst>
        </c:ser>
        <c:ser>
          <c:idx val="1"/>
          <c:order val="1"/>
          <c:tx>
            <c:strRef>
              <c:f>Sheet1!$E$171</c:f>
              <c:strCache>
                <c:ptCount val="1"/>
                <c:pt idx="0">
                  <c:v>Delayed_Shipments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Sheet1!$C$172:$C$181</c:f>
              <c:strCache>
                <c:ptCount val="10"/>
                <c:pt idx="0">
                  <c:v>W007</c:v>
                </c:pt>
                <c:pt idx="1">
                  <c:v>W006</c:v>
                </c:pt>
                <c:pt idx="2">
                  <c:v>W001</c:v>
                </c:pt>
                <c:pt idx="3">
                  <c:v>W009</c:v>
                </c:pt>
                <c:pt idx="4">
                  <c:v>W004</c:v>
                </c:pt>
                <c:pt idx="5">
                  <c:v>W010</c:v>
                </c:pt>
                <c:pt idx="6">
                  <c:v>W002</c:v>
                </c:pt>
                <c:pt idx="7">
                  <c:v>W005</c:v>
                </c:pt>
                <c:pt idx="8">
                  <c:v>W003</c:v>
                </c:pt>
                <c:pt idx="9">
                  <c:v>W008</c:v>
                </c:pt>
              </c:strCache>
            </c:strRef>
          </c:cat>
          <c:val>
            <c:numRef>
              <c:f>Sheet1!$E$172:$E$181</c:f>
              <c:numCache>
                <c:formatCode>General</c:formatCode>
                <c:ptCount val="10"/>
                <c:pt idx="0">
                  <c:v>15</c:v>
                </c:pt>
                <c:pt idx="1">
                  <c:v>12</c:v>
                </c:pt>
                <c:pt idx="2">
                  <c:v>18</c:v>
                </c:pt>
                <c:pt idx="3">
                  <c:v>13</c:v>
                </c:pt>
                <c:pt idx="4">
                  <c:v>12</c:v>
                </c:pt>
                <c:pt idx="5">
                  <c:v>20</c:v>
                </c:pt>
                <c:pt idx="6">
                  <c:v>10</c:v>
                </c:pt>
                <c:pt idx="7">
                  <c:v>14</c:v>
                </c:pt>
                <c:pt idx="8">
                  <c:v>13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A8-45DE-8AC9-53125B0C4C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37222848"/>
        <c:axId val="1537223328"/>
      </c:barChart>
      <c:catAx>
        <c:axId val="1537222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223328"/>
        <c:crosses val="autoZero"/>
        <c:auto val="1"/>
        <c:lblAlgn val="ctr"/>
        <c:lblOffset val="100"/>
        <c:noMultiLvlLbl val="0"/>
      </c:catAx>
      <c:valAx>
        <c:axId val="1537223328"/>
        <c:scaling>
          <c:orientation val="minMax"/>
          <c:max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222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080" b="0" i="0" u="none" strike="noStrike" baseline="0" dirty="0"/>
              <a:t>Bottleneck WH (Processing time </a:t>
            </a:r>
            <a:r>
              <a:rPr lang="en-US" sz="1080" b="1" i="0" u="none" strike="noStrike" baseline="0" dirty="0">
                <a:solidFill>
                  <a:srgbClr val="FF0000"/>
                </a:solidFill>
              </a:rPr>
              <a:t>&gt;</a:t>
            </a:r>
            <a:r>
              <a:rPr lang="en-US" sz="1080" b="0" i="0" u="none" strike="noStrike" baseline="0" dirty="0"/>
              <a:t> Global avg)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Sheet1!$E$189</c:f>
              <c:strCache>
                <c:ptCount val="1"/>
                <c:pt idx="0">
                  <c:v>Processing_Time_Min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Sheet1!$C$190:$D$194</c:f>
              <c:multiLvlStrCache>
                <c:ptCount val="5"/>
                <c:lvl>
                  <c:pt idx="0">
                    <c:v>Davidshire</c:v>
                  </c:pt>
                  <c:pt idx="1">
                    <c:v>New Crystalborough</c:v>
                  </c:pt>
                  <c:pt idx="2">
                    <c:v>Port Juliachester</c:v>
                  </c:pt>
                  <c:pt idx="3">
                    <c:v>Andersontown</c:v>
                  </c:pt>
                  <c:pt idx="4">
                    <c:v>Zacharyland</c:v>
                  </c:pt>
                </c:lvl>
                <c:lvl>
                  <c:pt idx="0">
                    <c:v>W010</c:v>
                  </c:pt>
                  <c:pt idx="1">
                    <c:v>W009</c:v>
                  </c:pt>
                  <c:pt idx="2">
                    <c:v>W007</c:v>
                  </c:pt>
                  <c:pt idx="3">
                    <c:v>W008</c:v>
                  </c:pt>
                  <c:pt idx="4">
                    <c:v>W001</c:v>
                  </c:pt>
                </c:lvl>
              </c:multiLvlStrCache>
            </c:multiLvlStrRef>
          </c:cat>
          <c:val>
            <c:numRef>
              <c:f>Sheet1!$E$190:$E$194</c:f>
              <c:numCache>
                <c:formatCode>General</c:formatCode>
                <c:ptCount val="5"/>
                <c:pt idx="0">
                  <c:v>171</c:v>
                </c:pt>
                <c:pt idx="1">
                  <c:v>170</c:v>
                </c:pt>
                <c:pt idx="2">
                  <c:v>166</c:v>
                </c:pt>
                <c:pt idx="3">
                  <c:v>161</c:v>
                </c:pt>
                <c:pt idx="4">
                  <c:v>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59-470D-923E-1B1ADE7A5D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37230528"/>
        <c:axId val="1537231008"/>
      </c:barChart>
      <c:catAx>
        <c:axId val="1537230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231008"/>
        <c:crosses val="autoZero"/>
        <c:auto val="1"/>
        <c:lblAlgn val="ctr"/>
        <c:lblOffset val="100"/>
        <c:noMultiLvlLbl val="0"/>
      </c:catAx>
      <c:valAx>
        <c:axId val="1537231008"/>
        <c:scaling>
          <c:orientation val="minMax"/>
          <c:max val="2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230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On Time Delivery %  </a:t>
            </a:r>
            <a:r>
              <a:rPr lang="en-US">
                <a:solidFill>
                  <a:srgbClr val="FF0000"/>
                </a:solidFill>
              </a:rPr>
              <a:t>VS</a:t>
            </a:r>
            <a:r>
              <a:rPr lang="en-US"/>
              <a:t> Warehouse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Sheet1!$D$204</c:f>
              <c:strCache>
                <c:ptCount val="1"/>
                <c:pt idx="0">
                  <c:v>On_Time_Percentage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Sheet1!$C$205:$C$214</c:f>
              <c:strCache>
                <c:ptCount val="10"/>
                <c:pt idx="0">
                  <c:v>W008</c:v>
                </c:pt>
                <c:pt idx="1">
                  <c:v>W006</c:v>
                </c:pt>
                <c:pt idx="2">
                  <c:v>W002</c:v>
                </c:pt>
                <c:pt idx="3">
                  <c:v>W004</c:v>
                </c:pt>
                <c:pt idx="4">
                  <c:v>W009</c:v>
                </c:pt>
                <c:pt idx="5">
                  <c:v>W007</c:v>
                </c:pt>
                <c:pt idx="6">
                  <c:v>W001</c:v>
                </c:pt>
                <c:pt idx="7">
                  <c:v>W005</c:v>
                </c:pt>
                <c:pt idx="8">
                  <c:v>W003</c:v>
                </c:pt>
                <c:pt idx="9">
                  <c:v>W010</c:v>
                </c:pt>
              </c:strCache>
            </c:strRef>
          </c:cat>
          <c:val>
            <c:numRef>
              <c:f>Sheet1!$D$205:$D$214</c:f>
              <c:numCache>
                <c:formatCode>General</c:formatCode>
                <c:ptCount val="10"/>
                <c:pt idx="0">
                  <c:v>76.19</c:v>
                </c:pt>
                <c:pt idx="1">
                  <c:v>67.569999999999993</c:v>
                </c:pt>
                <c:pt idx="2">
                  <c:v>64.290000000000006</c:v>
                </c:pt>
                <c:pt idx="3">
                  <c:v>61.29</c:v>
                </c:pt>
                <c:pt idx="4">
                  <c:v>60.61</c:v>
                </c:pt>
                <c:pt idx="5">
                  <c:v>60.53</c:v>
                </c:pt>
                <c:pt idx="6">
                  <c:v>47.06</c:v>
                </c:pt>
                <c:pt idx="7">
                  <c:v>44</c:v>
                </c:pt>
                <c:pt idx="8">
                  <c:v>43.48</c:v>
                </c:pt>
                <c:pt idx="9">
                  <c:v>33.33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A1-4E61-B783-91BB484C8959}"/>
            </c:ext>
          </c:extLst>
        </c:ser>
        <c:ser>
          <c:idx val="1"/>
          <c:order val="1"/>
          <c:tx>
            <c:strRef>
              <c:f>Sheet1!$E$204</c:f>
              <c:strCache>
                <c:ptCount val="1"/>
                <c:pt idx="0">
                  <c:v>Warehouse_Rank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Sheet1!$C$205:$C$214</c:f>
              <c:strCache>
                <c:ptCount val="10"/>
                <c:pt idx="0">
                  <c:v>W008</c:v>
                </c:pt>
                <c:pt idx="1">
                  <c:v>W006</c:v>
                </c:pt>
                <c:pt idx="2">
                  <c:v>W002</c:v>
                </c:pt>
                <c:pt idx="3">
                  <c:v>W004</c:v>
                </c:pt>
                <c:pt idx="4">
                  <c:v>W009</c:v>
                </c:pt>
                <c:pt idx="5">
                  <c:v>W007</c:v>
                </c:pt>
                <c:pt idx="6">
                  <c:v>W001</c:v>
                </c:pt>
                <c:pt idx="7">
                  <c:v>W005</c:v>
                </c:pt>
                <c:pt idx="8">
                  <c:v>W003</c:v>
                </c:pt>
                <c:pt idx="9">
                  <c:v>W010</c:v>
                </c:pt>
              </c:strCache>
            </c:strRef>
          </c:cat>
          <c:val>
            <c:numRef>
              <c:f>Sheet1!$E$205:$E$214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A1-4E61-B783-91BB484C895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37304928"/>
        <c:axId val="1537301088"/>
      </c:barChart>
      <c:catAx>
        <c:axId val="153730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301088"/>
        <c:crosses val="autoZero"/>
        <c:auto val="1"/>
        <c:lblAlgn val="ctr"/>
        <c:lblOffset val="100"/>
        <c:noMultiLvlLbl val="0"/>
      </c:catAx>
      <c:valAx>
        <c:axId val="1537301088"/>
        <c:scaling>
          <c:orientation val="minMax"/>
          <c:max val="9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304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On</a:t>
            </a:r>
            <a:r>
              <a:rPr lang="en-US" baseline="0"/>
              <a:t> </a:t>
            </a:r>
            <a:r>
              <a:rPr lang="en-US"/>
              <a:t>Time</a:t>
            </a:r>
            <a:r>
              <a:rPr lang="en-US" baseline="0"/>
              <a:t> </a:t>
            </a:r>
            <a:r>
              <a:rPr lang="en-US"/>
              <a:t>Delivery </a:t>
            </a:r>
            <a:r>
              <a:rPr lang="en-US" b="1">
                <a:solidFill>
                  <a:srgbClr val="FF0000"/>
                </a:solidFill>
              </a:rPr>
              <a:t>&lt;</a:t>
            </a:r>
            <a:r>
              <a:rPr lang="en-US"/>
              <a:t> 80%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Sheet1!$E$275</c:f>
              <c:strCache>
                <c:ptCount val="1"/>
                <c:pt idx="0">
                  <c:v>On_Time_Percentage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Sheet1!$C$276:$C$295</c:f>
              <c:strCache>
                <c:ptCount val="20"/>
                <c:pt idx="0">
                  <c:v>A010</c:v>
                </c:pt>
                <c:pt idx="1">
                  <c:v>A011</c:v>
                </c:pt>
                <c:pt idx="2">
                  <c:v>A038</c:v>
                </c:pt>
                <c:pt idx="3">
                  <c:v>A008</c:v>
                </c:pt>
                <c:pt idx="4">
                  <c:v>A039</c:v>
                </c:pt>
                <c:pt idx="5">
                  <c:v>A050</c:v>
                </c:pt>
                <c:pt idx="6">
                  <c:v>A018</c:v>
                </c:pt>
                <c:pt idx="7">
                  <c:v>A027</c:v>
                </c:pt>
                <c:pt idx="8">
                  <c:v>A003</c:v>
                </c:pt>
                <c:pt idx="9">
                  <c:v>A023</c:v>
                </c:pt>
                <c:pt idx="10">
                  <c:v>A028</c:v>
                </c:pt>
                <c:pt idx="11">
                  <c:v>A035</c:v>
                </c:pt>
                <c:pt idx="12">
                  <c:v>A046</c:v>
                </c:pt>
                <c:pt idx="13">
                  <c:v>A030</c:v>
                </c:pt>
                <c:pt idx="14">
                  <c:v>A020</c:v>
                </c:pt>
                <c:pt idx="15">
                  <c:v>A040</c:v>
                </c:pt>
                <c:pt idx="16">
                  <c:v>A048</c:v>
                </c:pt>
                <c:pt idx="17">
                  <c:v>A016</c:v>
                </c:pt>
                <c:pt idx="18">
                  <c:v>A037</c:v>
                </c:pt>
                <c:pt idx="19">
                  <c:v>A043</c:v>
                </c:pt>
              </c:strCache>
              <c:extLst/>
            </c:strRef>
          </c:cat>
          <c:val>
            <c:numRef>
              <c:f>Sheet1!$E$276:$E$295</c:f>
              <c:numCache>
                <c:formatCode>General</c:formatCode>
                <c:ptCount val="20"/>
                <c:pt idx="0">
                  <c:v>70.45</c:v>
                </c:pt>
                <c:pt idx="1">
                  <c:v>71.5</c:v>
                </c:pt>
                <c:pt idx="2">
                  <c:v>71.8</c:v>
                </c:pt>
                <c:pt idx="3">
                  <c:v>72.39</c:v>
                </c:pt>
                <c:pt idx="4">
                  <c:v>72.599999999999994</c:v>
                </c:pt>
                <c:pt idx="5">
                  <c:v>72.75</c:v>
                </c:pt>
                <c:pt idx="6">
                  <c:v>73.209999999999994</c:v>
                </c:pt>
                <c:pt idx="7">
                  <c:v>73.8</c:v>
                </c:pt>
                <c:pt idx="8">
                  <c:v>74.150000000000006</c:v>
                </c:pt>
                <c:pt idx="9">
                  <c:v>74.209999999999994</c:v>
                </c:pt>
                <c:pt idx="10">
                  <c:v>74.47</c:v>
                </c:pt>
                <c:pt idx="11">
                  <c:v>74.5</c:v>
                </c:pt>
                <c:pt idx="12">
                  <c:v>75.459999999999994</c:v>
                </c:pt>
                <c:pt idx="13">
                  <c:v>76.599999999999994</c:v>
                </c:pt>
                <c:pt idx="14">
                  <c:v>77.650000000000006</c:v>
                </c:pt>
                <c:pt idx="15">
                  <c:v>77.83</c:v>
                </c:pt>
                <c:pt idx="16">
                  <c:v>77.92</c:v>
                </c:pt>
                <c:pt idx="17">
                  <c:v>78.39</c:v>
                </c:pt>
                <c:pt idx="18">
                  <c:v>78.94</c:v>
                </c:pt>
                <c:pt idx="19">
                  <c:v>79.510000000000005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DD-4B7E-94A8-8BD1A47B978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37217568"/>
        <c:axId val="1537201248"/>
      </c:barChart>
      <c:catAx>
        <c:axId val="1537217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201248"/>
        <c:crosses val="autoZero"/>
        <c:auto val="1"/>
        <c:lblAlgn val="ctr"/>
        <c:lblOffset val="100"/>
        <c:noMultiLvlLbl val="0"/>
      </c:catAx>
      <c:valAx>
        <c:axId val="1537201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217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080" b="0" i="0" u="none" strike="noStrike" kern="1200" spc="0" baseline="0">
                <a:solidFill>
                  <a:sysClr val="windowText" lastClr="000000"/>
                </a:solidFill>
              </a:rPr>
              <a:t>On Time Delivery </a:t>
            </a:r>
            <a:r>
              <a:rPr lang="en-US" sz="1080" b="1" i="0" u="none" strike="noStrike" kern="1200" spc="0" baseline="0">
                <a:solidFill>
                  <a:srgbClr val="FF0000"/>
                </a:solidFill>
              </a:rPr>
              <a:t>&gt;</a:t>
            </a:r>
            <a:r>
              <a:rPr lang="en-US" sz="1080" b="0" i="0" u="none" strike="noStrike" kern="1200" spc="0" baseline="0">
                <a:solidFill>
                  <a:sysClr val="windowText" lastClr="000000"/>
                </a:solidFill>
              </a:rPr>
              <a:t> 95%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Sheet1!$E$298</c:f>
              <c:strCache>
                <c:ptCount val="1"/>
                <c:pt idx="0">
                  <c:v>On_Time_Percentage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Sheet1!$C$299:$D$309</c:f>
              <c:multiLvlStrCache>
                <c:ptCount val="11"/>
                <c:lvl>
                  <c:pt idx="0">
                    <c:v>R007</c:v>
                  </c:pt>
                  <c:pt idx="1">
                    <c:v>R007</c:v>
                  </c:pt>
                  <c:pt idx="2">
                    <c:v>R008</c:v>
                  </c:pt>
                  <c:pt idx="3">
                    <c:v>R018</c:v>
                  </c:pt>
                  <c:pt idx="4">
                    <c:v>R019</c:v>
                  </c:pt>
                  <c:pt idx="5">
                    <c:v>R002</c:v>
                  </c:pt>
                  <c:pt idx="6">
                    <c:v>R018</c:v>
                  </c:pt>
                  <c:pt idx="7">
                    <c:v>R018</c:v>
                  </c:pt>
                  <c:pt idx="8">
                    <c:v>R018</c:v>
                  </c:pt>
                  <c:pt idx="9">
                    <c:v>R002</c:v>
                  </c:pt>
                  <c:pt idx="10">
                    <c:v>R009</c:v>
                  </c:pt>
                </c:lvl>
                <c:lvl>
                  <c:pt idx="0">
                    <c:v>A014</c:v>
                  </c:pt>
                  <c:pt idx="1">
                    <c:v>A049</c:v>
                  </c:pt>
                  <c:pt idx="2">
                    <c:v>A032</c:v>
                  </c:pt>
                  <c:pt idx="3">
                    <c:v>A007</c:v>
                  </c:pt>
                  <c:pt idx="4">
                    <c:v>A004</c:v>
                  </c:pt>
                  <c:pt idx="5">
                    <c:v>A033</c:v>
                  </c:pt>
                  <c:pt idx="6">
                    <c:v>A017</c:v>
                  </c:pt>
                  <c:pt idx="7">
                    <c:v>A019</c:v>
                  </c:pt>
                  <c:pt idx="8">
                    <c:v>A031</c:v>
                  </c:pt>
                  <c:pt idx="9">
                    <c:v>A024</c:v>
                  </c:pt>
                  <c:pt idx="10">
                    <c:v>A045</c:v>
                  </c:pt>
                </c:lvl>
              </c:multiLvlStrCache>
            </c:multiLvlStrRef>
          </c:cat>
          <c:val>
            <c:numRef>
              <c:f>Sheet1!$E$299:$E$309</c:f>
              <c:numCache>
                <c:formatCode>General</c:formatCode>
                <c:ptCount val="11"/>
                <c:pt idx="0">
                  <c:v>99.9</c:v>
                </c:pt>
                <c:pt idx="1">
                  <c:v>99.82</c:v>
                </c:pt>
                <c:pt idx="2">
                  <c:v>99.32</c:v>
                </c:pt>
                <c:pt idx="3">
                  <c:v>99.11</c:v>
                </c:pt>
                <c:pt idx="4">
                  <c:v>98.25</c:v>
                </c:pt>
                <c:pt idx="5">
                  <c:v>98.01</c:v>
                </c:pt>
                <c:pt idx="6">
                  <c:v>97.9</c:v>
                </c:pt>
                <c:pt idx="7">
                  <c:v>97.7</c:v>
                </c:pt>
                <c:pt idx="8">
                  <c:v>97.29</c:v>
                </c:pt>
                <c:pt idx="9">
                  <c:v>97.16</c:v>
                </c:pt>
                <c:pt idx="10">
                  <c:v>95.08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91-4F6B-8C41-654BFDD2C7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37215168"/>
        <c:axId val="1537203648"/>
      </c:barChart>
      <c:catAx>
        <c:axId val="1537215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203648"/>
        <c:crosses val="autoZero"/>
        <c:auto val="1"/>
        <c:lblAlgn val="ctr"/>
        <c:lblOffset val="100"/>
        <c:noMultiLvlLbl val="0"/>
      </c:catAx>
      <c:valAx>
        <c:axId val="1537203648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215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</a:t>
            </a:r>
            <a:r>
              <a:rPr lang="en-US">
                <a:solidFill>
                  <a:srgbClr val="FF0000"/>
                </a:solidFill>
              </a:rPr>
              <a:t>VS</a:t>
            </a:r>
            <a:r>
              <a:rPr lang="en-US"/>
              <a:t> bottom 5 Agent</a:t>
            </a:r>
            <a:r>
              <a:rPr lang="en-US" baseline="0"/>
              <a:t> Avg Speed (km/hr)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Sheet1!$D$313</c:f>
              <c:strCache>
                <c:ptCount val="1"/>
                <c:pt idx="0">
                  <c:v>Avg_Speed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Sheet1!$C$314:$C$315</c:f>
              <c:strCache>
                <c:ptCount val="2"/>
                <c:pt idx="0">
                  <c:v>Top 5 Agents</c:v>
                </c:pt>
                <c:pt idx="1">
                  <c:v>Bottom 5 Agents</c:v>
                </c:pt>
              </c:strCache>
            </c:strRef>
          </c:cat>
          <c:val>
            <c:numRef>
              <c:f>Sheet1!$D$314:$D$315</c:f>
              <c:numCache>
                <c:formatCode>General</c:formatCode>
                <c:ptCount val="2"/>
                <c:pt idx="0">
                  <c:v>60</c:v>
                </c:pt>
                <c:pt idx="1">
                  <c:v>56.8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A7-4698-BA7C-758C49F87D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438885776"/>
        <c:axId val="1438887216"/>
      </c:barChart>
      <c:catAx>
        <c:axId val="14388857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887216"/>
        <c:crosses val="autoZero"/>
        <c:auto val="1"/>
        <c:lblAlgn val="ctr"/>
        <c:lblOffset val="100"/>
        <c:noMultiLvlLbl val="0"/>
      </c:catAx>
      <c:valAx>
        <c:axId val="1438887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885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Delay </a:t>
            </a:r>
            <a:r>
              <a:rPr lang="en-US" b="1" dirty="0">
                <a:solidFill>
                  <a:srgbClr val="FF0000"/>
                </a:solidFill>
              </a:rPr>
              <a:t>Cause</a:t>
            </a:r>
            <a:r>
              <a:rPr lang="en-US" dirty="0"/>
              <a:t> Occurrence</a:t>
            </a:r>
            <a:r>
              <a:rPr lang="en-US" baseline="0" dirty="0"/>
              <a:t> </a:t>
            </a:r>
            <a:r>
              <a:rPr lang="en-US" dirty="0"/>
              <a:t>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Sheet1!$D$630</c:f>
              <c:strCache>
                <c:ptCount val="1"/>
                <c:pt idx="0">
                  <c:v>Occurrence_Count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Sheet1!$C$631:$C$633</c:f>
              <c:strCache>
                <c:ptCount val="3"/>
                <c:pt idx="0">
                  <c:v>Sorting Delay</c:v>
                </c:pt>
                <c:pt idx="1">
                  <c:v>Weather</c:v>
                </c:pt>
                <c:pt idx="2">
                  <c:v>Traffic</c:v>
                </c:pt>
              </c:strCache>
            </c:strRef>
          </c:cat>
          <c:val>
            <c:numRef>
              <c:f>Sheet1!$D$631:$D$633</c:f>
              <c:numCache>
                <c:formatCode>General</c:formatCode>
                <c:ptCount val="3"/>
                <c:pt idx="0">
                  <c:v>272</c:v>
                </c:pt>
                <c:pt idx="1">
                  <c:v>263</c:v>
                </c:pt>
                <c:pt idx="2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72-4E05-9979-A1358EE54F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438900656"/>
        <c:axId val="1438884816"/>
      </c:barChart>
      <c:catAx>
        <c:axId val="1438900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884816"/>
        <c:crosses val="autoZero"/>
        <c:auto val="1"/>
        <c:lblAlgn val="ctr"/>
        <c:lblOffset val="100"/>
        <c:noMultiLvlLbl val="0"/>
      </c:catAx>
      <c:valAx>
        <c:axId val="1438884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900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080" b="0" i="0" u="none" strike="noStrike" kern="1200" spc="0" baseline="0" dirty="0">
                <a:solidFill>
                  <a:prstClr val="black"/>
                </a:solidFill>
              </a:rPr>
              <a:t>Orders </a:t>
            </a:r>
            <a:r>
              <a:rPr lang="en-US" sz="1080" b="1" i="0" u="none" strike="noStrike" kern="1200" spc="0" baseline="0" dirty="0">
                <a:solidFill>
                  <a:srgbClr val="FF0000"/>
                </a:solidFill>
              </a:rPr>
              <a:t>With</a:t>
            </a:r>
            <a:r>
              <a:rPr lang="en-US" sz="1080" b="0" i="0" u="none" strike="noStrike" kern="1200" spc="0" baseline="0" dirty="0">
                <a:solidFill>
                  <a:prstClr val="black"/>
                </a:solidFill>
              </a:rPr>
              <a:t> Delays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5</c:v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Total</c:v>
              </c:pt>
            </c:strLit>
          </c:cat>
          <c:val>
            <c:numLit>
              <c:formatCode>General</c:formatCode>
              <c:ptCount val="1"/>
              <c:pt idx="0">
                <c:v>65</c:v>
              </c:pt>
            </c:numLit>
          </c:val>
          <c:extLst>
            <c:ext xmlns:c16="http://schemas.microsoft.com/office/drawing/2014/chart" uri="{C3380CC4-5D6E-409C-BE32-E72D297353CC}">
              <c16:uniqueId val="{00000000-C568-4716-B65B-13902107A8E1}"/>
            </c:ext>
          </c:extLst>
        </c:ser>
        <c:ser>
          <c:idx val="1"/>
          <c:order val="1"/>
          <c:tx>
            <c:v>4</c:v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Total</c:v>
              </c:pt>
            </c:strLit>
          </c:cat>
          <c:val>
            <c:numLit>
              <c:formatCode>General</c:formatCode>
              <c:ptCount val="1"/>
              <c:pt idx="0">
                <c:v>228</c:v>
              </c:pt>
            </c:numLit>
          </c:val>
          <c:extLst>
            <c:ext xmlns:c16="http://schemas.microsoft.com/office/drawing/2014/chart" uri="{C3380CC4-5D6E-409C-BE32-E72D297353CC}">
              <c16:uniqueId val="{00000001-C568-4716-B65B-13902107A8E1}"/>
            </c:ext>
          </c:extLst>
        </c:ser>
        <c:ser>
          <c:idx val="2"/>
          <c:order val="2"/>
          <c:tx>
            <c:v>3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Total</c:v>
              </c:pt>
            </c:strLit>
          </c:cat>
          <c:val>
            <c:numLit>
              <c:formatCode>General</c:formatCode>
              <c:ptCount val="1"/>
              <c:pt idx="0">
                <c:v>243</c:v>
              </c:pt>
            </c:numLit>
          </c:val>
          <c:extLst>
            <c:ext xmlns:c16="http://schemas.microsoft.com/office/drawing/2014/chart" uri="{C3380CC4-5D6E-409C-BE32-E72D297353CC}">
              <c16:uniqueId val="{00000002-C568-4716-B65B-13902107A8E1}"/>
            </c:ext>
          </c:extLst>
        </c:ser>
        <c:ser>
          <c:idx val="3"/>
          <c:order val="3"/>
          <c:tx>
            <c:v>2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Total</c:v>
              </c:pt>
            </c:strLit>
          </c:cat>
          <c:val>
            <c:numLit>
              <c:formatCode>General</c:formatCode>
              <c:ptCount val="1"/>
              <c:pt idx="0">
                <c:v>208</c:v>
              </c:pt>
            </c:numLit>
          </c:val>
          <c:extLst>
            <c:ext xmlns:c16="http://schemas.microsoft.com/office/drawing/2014/chart" uri="{C3380CC4-5D6E-409C-BE32-E72D297353CC}">
              <c16:uniqueId val="{00000003-C568-4716-B65B-13902107A8E1}"/>
            </c:ext>
          </c:extLst>
        </c:ser>
        <c:ser>
          <c:idx val="4"/>
          <c:order val="4"/>
          <c:tx>
            <c:v>1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Total</c:v>
              </c:pt>
            </c:strLit>
          </c:cat>
          <c:val>
            <c:numLit>
              <c:formatCode>General</c:formatCode>
              <c:ptCount val="1"/>
              <c:pt idx="0">
                <c:v>38</c:v>
              </c:pt>
            </c:numLit>
          </c:val>
          <c:extLst>
            <c:ext xmlns:c16="http://schemas.microsoft.com/office/drawing/2014/chart" uri="{C3380CC4-5D6E-409C-BE32-E72D297353CC}">
              <c16:uniqueId val="{00000004-C568-4716-B65B-13902107A8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37244928"/>
        <c:axId val="1537234848"/>
      </c:barChart>
      <c:catAx>
        <c:axId val="153724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234848"/>
        <c:crosses val="autoZero"/>
        <c:auto val="1"/>
        <c:lblAlgn val="ctr"/>
        <c:lblOffset val="100"/>
        <c:noMultiLvlLbl val="0"/>
      </c:catAx>
      <c:valAx>
        <c:axId val="1537234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244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Region</a:t>
            </a:r>
            <a:r>
              <a:rPr lang="en-US" baseline="0" dirty="0"/>
              <a:t> </a:t>
            </a:r>
            <a:r>
              <a:rPr lang="en-US" b="1" baseline="0" dirty="0">
                <a:solidFill>
                  <a:srgbClr val="FF0000"/>
                </a:solidFill>
              </a:rPr>
              <a:t>VS</a:t>
            </a:r>
            <a:r>
              <a:rPr lang="en-US" baseline="0" dirty="0"/>
              <a:t> </a:t>
            </a:r>
            <a:r>
              <a:rPr lang="en-US" dirty="0"/>
              <a:t>Avg</a:t>
            </a:r>
            <a:r>
              <a:rPr lang="en-US" baseline="0" dirty="0"/>
              <a:t> </a:t>
            </a:r>
            <a:r>
              <a:rPr lang="en-US" dirty="0"/>
              <a:t>Delivery</a:t>
            </a:r>
            <a:r>
              <a:rPr lang="en-US" baseline="0" dirty="0"/>
              <a:t> </a:t>
            </a:r>
            <a:r>
              <a:rPr lang="en-US" dirty="0"/>
              <a:t>Delay</a:t>
            </a:r>
            <a:r>
              <a:rPr lang="en-US" baseline="0" dirty="0"/>
              <a:t> </a:t>
            </a:r>
            <a:r>
              <a:rPr lang="en-US" dirty="0"/>
              <a:t>Days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Sheet1!$D$938</c:f>
              <c:strCache>
                <c:ptCount val="1"/>
                <c:pt idx="0">
                  <c:v>Avg_Delivery_Delay_Days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Sheet1!$C$939:$C$958</c:f>
              <c:strCache>
                <c:ptCount val="20"/>
                <c:pt idx="0">
                  <c:v>West Calvinview</c:v>
                </c:pt>
                <c:pt idx="1">
                  <c:v>Juliestad</c:v>
                </c:pt>
                <c:pt idx="2">
                  <c:v>Port Tammybury</c:v>
                </c:pt>
                <c:pt idx="3">
                  <c:v>South Jenniferfurt</c:v>
                </c:pt>
                <c:pt idx="4">
                  <c:v>New Jessica</c:v>
                </c:pt>
                <c:pt idx="5">
                  <c:v>Ramosside</c:v>
                </c:pt>
                <c:pt idx="6">
                  <c:v>South Johnville</c:v>
                </c:pt>
                <c:pt idx="7">
                  <c:v>Lowemouth</c:v>
                </c:pt>
                <c:pt idx="8">
                  <c:v>North Aliceside</c:v>
                </c:pt>
                <c:pt idx="9">
                  <c:v>Aaronhaven</c:v>
                </c:pt>
                <c:pt idx="10">
                  <c:v>New Aimeechester</c:v>
                </c:pt>
                <c:pt idx="11">
                  <c:v>North Edward</c:v>
                </c:pt>
                <c:pt idx="12">
                  <c:v>Lake Oscarfurt</c:v>
                </c:pt>
                <c:pt idx="13">
                  <c:v>Lake Robinhaven</c:v>
                </c:pt>
                <c:pt idx="14">
                  <c:v>South Brianchester</c:v>
                </c:pt>
                <c:pt idx="15">
                  <c:v>East Amy</c:v>
                </c:pt>
                <c:pt idx="16">
                  <c:v>Bellfurt</c:v>
                </c:pt>
                <c:pt idx="17">
                  <c:v>Lake Jessicastad</c:v>
                </c:pt>
                <c:pt idx="18">
                  <c:v>South Davidborough</c:v>
                </c:pt>
                <c:pt idx="19">
                  <c:v>Lake Kathrynchester</c:v>
                </c:pt>
              </c:strCache>
            </c:strRef>
          </c:cat>
          <c:val>
            <c:numRef>
              <c:f>Sheet1!$D$939:$D$958</c:f>
              <c:numCache>
                <c:formatCode>General</c:formatCode>
                <c:ptCount val="20"/>
                <c:pt idx="0">
                  <c:v>1.08</c:v>
                </c:pt>
                <c:pt idx="1">
                  <c:v>1.06</c:v>
                </c:pt>
                <c:pt idx="2">
                  <c:v>1</c:v>
                </c:pt>
                <c:pt idx="3">
                  <c:v>1</c:v>
                </c:pt>
                <c:pt idx="4">
                  <c:v>0.8</c:v>
                </c:pt>
                <c:pt idx="5">
                  <c:v>0.8</c:v>
                </c:pt>
                <c:pt idx="6">
                  <c:v>0.76</c:v>
                </c:pt>
                <c:pt idx="7">
                  <c:v>0.7</c:v>
                </c:pt>
                <c:pt idx="8">
                  <c:v>0.7</c:v>
                </c:pt>
                <c:pt idx="9">
                  <c:v>0.69</c:v>
                </c:pt>
                <c:pt idx="10">
                  <c:v>0.67</c:v>
                </c:pt>
                <c:pt idx="11">
                  <c:v>0.62</c:v>
                </c:pt>
                <c:pt idx="12">
                  <c:v>0.62</c:v>
                </c:pt>
                <c:pt idx="13">
                  <c:v>0.55000000000000004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0.47</c:v>
                </c:pt>
                <c:pt idx="18">
                  <c:v>0.44</c:v>
                </c:pt>
                <c:pt idx="19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11-458C-B27A-CE5D36B2A5D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38925616"/>
        <c:axId val="1438928976"/>
      </c:barChart>
      <c:catAx>
        <c:axId val="1438925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928976"/>
        <c:crosses val="autoZero"/>
        <c:auto val="1"/>
        <c:lblAlgn val="ctr"/>
        <c:lblOffset val="100"/>
        <c:noMultiLvlLbl val="0"/>
      </c:catAx>
      <c:valAx>
        <c:axId val="1438928976"/>
        <c:scaling>
          <c:orientation val="minMax"/>
          <c:max val="1.3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925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Avg</a:t>
            </a:r>
            <a:r>
              <a:rPr lang="en-US" baseline="0" dirty="0"/>
              <a:t> </a:t>
            </a:r>
            <a:r>
              <a:rPr lang="en-US" dirty="0"/>
              <a:t>Traffic</a:t>
            </a:r>
            <a:r>
              <a:rPr lang="en-US" baseline="0" dirty="0"/>
              <a:t> </a:t>
            </a:r>
            <a:r>
              <a:rPr lang="en-US" dirty="0"/>
              <a:t>Delay</a:t>
            </a:r>
            <a:r>
              <a:rPr lang="en-US" baseline="0" dirty="0"/>
              <a:t> (Min.) </a:t>
            </a:r>
            <a:r>
              <a:rPr lang="en-US" baseline="0" dirty="0">
                <a:solidFill>
                  <a:srgbClr val="FF0000"/>
                </a:solidFill>
              </a:rPr>
              <a:t>VS</a:t>
            </a:r>
            <a:r>
              <a:rPr lang="en-US" baseline="0" dirty="0"/>
              <a:t> Route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Sheet1!$D$49</c:f>
              <c:strCache>
                <c:ptCount val="1"/>
                <c:pt idx="0">
                  <c:v>Avg_Traffic_Delay_Min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Sheet1!$C$50:$C$69</c:f>
              <c:strCache>
                <c:ptCount val="20"/>
                <c:pt idx="0">
                  <c:v>R014</c:v>
                </c:pt>
                <c:pt idx="1">
                  <c:v>R007</c:v>
                </c:pt>
                <c:pt idx="2">
                  <c:v>R009</c:v>
                </c:pt>
                <c:pt idx="3">
                  <c:v>R006</c:v>
                </c:pt>
                <c:pt idx="4">
                  <c:v>R010</c:v>
                </c:pt>
                <c:pt idx="5">
                  <c:v>R013</c:v>
                </c:pt>
                <c:pt idx="6">
                  <c:v>R019</c:v>
                </c:pt>
                <c:pt idx="7">
                  <c:v>R001</c:v>
                </c:pt>
                <c:pt idx="8">
                  <c:v>R008</c:v>
                </c:pt>
                <c:pt idx="9">
                  <c:v>R012</c:v>
                </c:pt>
                <c:pt idx="10">
                  <c:v>R015</c:v>
                </c:pt>
                <c:pt idx="11">
                  <c:v>R005</c:v>
                </c:pt>
                <c:pt idx="12">
                  <c:v>R011</c:v>
                </c:pt>
                <c:pt idx="13">
                  <c:v>R020</c:v>
                </c:pt>
                <c:pt idx="14">
                  <c:v>R002</c:v>
                </c:pt>
                <c:pt idx="15">
                  <c:v>R003</c:v>
                </c:pt>
                <c:pt idx="16">
                  <c:v>R018</c:v>
                </c:pt>
                <c:pt idx="17">
                  <c:v>R016</c:v>
                </c:pt>
                <c:pt idx="18">
                  <c:v>R017</c:v>
                </c:pt>
                <c:pt idx="19">
                  <c:v>R004</c:v>
                </c:pt>
              </c:strCache>
            </c:strRef>
          </c:cat>
          <c:val>
            <c:numRef>
              <c:f>Sheet1!$D$50:$D$69</c:f>
              <c:numCache>
                <c:formatCode>General</c:formatCode>
                <c:ptCount val="20"/>
                <c:pt idx="0">
                  <c:v>58</c:v>
                </c:pt>
                <c:pt idx="1">
                  <c:v>51</c:v>
                </c:pt>
                <c:pt idx="2">
                  <c:v>46</c:v>
                </c:pt>
                <c:pt idx="3">
                  <c:v>42</c:v>
                </c:pt>
                <c:pt idx="4">
                  <c:v>40</c:v>
                </c:pt>
                <c:pt idx="5">
                  <c:v>38</c:v>
                </c:pt>
                <c:pt idx="6">
                  <c:v>37</c:v>
                </c:pt>
                <c:pt idx="7">
                  <c:v>36</c:v>
                </c:pt>
                <c:pt idx="8">
                  <c:v>34</c:v>
                </c:pt>
                <c:pt idx="9">
                  <c:v>29</c:v>
                </c:pt>
                <c:pt idx="10">
                  <c:v>29</c:v>
                </c:pt>
                <c:pt idx="11">
                  <c:v>26</c:v>
                </c:pt>
                <c:pt idx="12">
                  <c:v>25</c:v>
                </c:pt>
                <c:pt idx="13">
                  <c:v>23</c:v>
                </c:pt>
                <c:pt idx="14">
                  <c:v>22</c:v>
                </c:pt>
                <c:pt idx="15">
                  <c:v>11</c:v>
                </c:pt>
                <c:pt idx="16">
                  <c:v>11</c:v>
                </c:pt>
                <c:pt idx="17">
                  <c:v>8</c:v>
                </c:pt>
                <c:pt idx="18">
                  <c:v>8</c:v>
                </c:pt>
                <c:pt idx="1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F5-46ED-9D97-0AE1E0544E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38936656"/>
        <c:axId val="1438933776"/>
      </c:barChart>
      <c:catAx>
        <c:axId val="143893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933776"/>
        <c:crosses val="autoZero"/>
        <c:auto val="1"/>
        <c:lblAlgn val="ctr"/>
        <c:lblOffset val="100"/>
        <c:noMultiLvlLbl val="0"/>
      </c:catAx>
      <c:valAx>
        <c:axId val="1438933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93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735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2737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324D8-DC74-803C-6EDB-B74EBA92A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BB4CB-F633-B8AD-B0CB-8F6136DDE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95337-DC28-FB66-1614-1E4BB1E82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14E0F-7F2F-359C-3DC2-61085F8E9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1886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6F54E-3A82-FADA-D967-6494A9111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046D3-9C6E-4221-6565-0087E0292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846B4B-E275-5E62-ABEA-22D6DB46C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A9CFD-C731-9396-D5F8-774D86CF1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8970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7B129-7C35-B909-C128-B9AC1B0E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E56D9-2A55-C116-EA61-2BA7E7AC0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94022-77FA-4A0F-DA2D-3EB355F6C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8FF32-E163-F646-1521-830BCEC25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75948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169E-F1BD-B31E-2A70-1D01CC9C4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1E688-F74C-680B-AA70-A62303539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267DF-AF0F-E933-B6A9-165F0E1D5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CE1-DDC9-1E87-1FC1-4B8D3BF7F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9867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5222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EFB0D-6DB6-450D-981E-DB5B064ABC8F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 noProof="0"/>
              <a:t>Click to edit Master subtitle style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C8650-8C82-4FB0-9266-0148B376A8CE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 noProof="0"/>
              <a:t>Click to edit Master subtitle style</a:t>
            </a:r>
            <a:endParaRPr lang="en-US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E01-3159-42E8-9946-B3F7564EBC72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ECCD-A9BB-4C40-8999-9FDE0B2AF02D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1315-80A2-4A6F-99BC-2337EDBA509A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FCEE-D38D-4315-8661-B8B16CE6B114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7022-84E8-42F0-8AEA-ADED76AFD446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67F3-A942-43B7-9681-6435F4941075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76BB9-001A-4B59-8C51-603E71AE3226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10F8E8D-DF54-49BE-BDBC-401B280C4E3C}" type="datetime1">
              <a:rPr lang="en-US" noProof="0" smtClean="0"/>
              <a:t>4/15/2026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Support%20Table%20and%20charts.xlsx#'task1'!A1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hyperlink" Target="Support%20Table%20and%20charts.xlsx#'task2'!A1" TargetMode="Externa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hyperlink" Target="Support%20Table%20and%20charts.xlsx#'task3'!A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7" Type="http://schemas.openxmlformats.org/officeDocument/2006/relationships/hyperlink" Target="Support%20Table%20and%20charts.xlsx#'task4'!A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hyperlink" Target="Support%20Table%20and%20charts.xlsx#'task5'!A1" TargetMode="Externa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hyperlink" Target="Support%20Table%20and%20charts.xlsx#'task6'!A1" TargetMode="External"/><Relationship Id="rId4" Type="http://schemas.openxmlformats.org/officeDocument/2006/relationships/chart" Target="../charts/char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loom.com/share/9fd9a4c278d7485586d100c4efc4a8bf" TargetMode="External"/><Relationship Id="rId5" Type="http://schemas.openxmlformats.org/officeDocument/2006/relationships/hyperlink" Target="Support%20Table%20and%20charts.xlsx#'task7'!A1" TargetMode="External"/><Relationship Id="rId4" Type="http://schemas.openxmlformats.org/officeDocument/2006/relationships/chart" Target="../charts/char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7D5F6B1-1228-4C2A-AE2C-950C34054C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5" r="29486"/>
          <a:stretch>
            <a:fillRect/>
          </a:stretch>
        </p:blipFill>
        <p:spPr>
          <a:xfrm>
            <a:off x="0" y="18288"/>
            <a:ext cx="63119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DHEERAJ MARMAT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FB5E3C-FE17-44EA-B59B-183125D08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01 April 2026</a:t>
            </a:r>
          </a:p>
        </p:txBody>
      </p:sp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61AD-FFE6-00BD-8D7E-8AD708EA9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AC8598-B39E-D8BB-25CE-2C856C717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/>
              <a:t> Data Cleaning &amp; Preparation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63DD0A-698C-57C0-A966-C826B29F0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023364"/>
            <a:ext cx="2852928" cy="2390647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Checks performed:</a:t>
            </a:r>
          </a:p>
          <a:p>
            <a:r>
              <a:rPr lang="en-US" dirty="0"/>
              <a:t>Duplicate </a:t>
            </a:r>
            <a:r>
              <a:rPr lang="en-US" dirty="0" err="1"/>
              <a:t>Order_ID</a:t>
            </a:r>
            <a:endParaRPr lang="en-US" dirty="0"/>
          </a:p>
          <a:p>
            <a:r>
              <a:rPr lang="en-US" dirty="0"/>
              <a:t>Missing traffic delay</a:t>
            </a:r>
          </a:p>
          <a:p>
            <a:r>
              <a:rPr lang="en-US" dirty="0"/>
              <a:t>Date validation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7D0C115-7919-C595-4323-A18314870F30}"/>
              </a:ext>
            </a:extLst>
          </p:cNvPr>
          <p:cNvSpPr txBox="1">
            <a:spLocks/>
          </p:cNvSpPr>
          <p:nvPr/>
        </p:nvSpPr>
        <p:spPr>
          <a:xfrm>
            <a:off x="4328162" y="2026666"/>
            <a:ext cx="7680960" cy="280466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400" b="1" dirty="0"/>
              <a:t>Result:</a:t>
            </a:r>
          </a:p>
          <a:p>
            <a:r>
              <a:rPr lang="en-US" dirty="0"/>
              <a:t>Verified uniqueness of </a:t>
            </a:r>
            <a:r>
              <a:rPr lang="en-US" dirty="0" err="1"/>
              <a:t>Order_ID</a:t>
            </a:r>
            <a:r>
              <a:rPr lang="en-US" dirty="0"/>
              <a:t> (no duplicates found)</a:t>
            </a:r>
          </a:p>
          <a:p>
            <a:r>
              <a:rPr lang="en-US" dirty="0"/>
              <a:t>Checked for missing traffic delays and invalid delivery dates (no issue)</a:t>
            </a:r>
          </a:p>
          <a:p>
            <a:r>
              <a:rPr lang="en-US" dirty="0"/>
              <a:t>Validated</a:t>
            </a:r>
          </a:p>
          <a:p>
            <a:pPr lvl="1"/>
            <a:r>
              <a:rPr lang="en-US" dirty="0"/>
              <a:t> There is no </a:t>
            </a:r>
            <a:r>
              <a:rPr lang="en-US" dirty="0" err="1"/>
              <a:t>Actual_Delivery_Date</a:t>
            </a:r>
            <a:r>
              <a:rPr lang="en-US" dirty="0"/>
              <a:t> is before </a:t>
            </a:r>
            <a:r>
              <a:rPr lang="en-US" dirty="0" err="1"/>
              <a:t>Order_Date</a:t>
            </a:r>
            <a:endParaRPr lang="en-US" dirty="0"/>
          </a:p>
          <a:p>
            <a:pPr lvl="1"/>
            <a:r>
              <a:rPr lang="en-US" dirty="0"/>
              <a:t> Standardized date columns (converted TEXT → DATE)</a:t>
            </a:r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68C2DA01-0C1E-026A-D800-53CDF4F77583}"/>
              </a:ext>
            </a:extLst>
          </p:cNvPr>
          <p:cNvSpPr txBox="1">
            <a:spLocks/>
          </p:cNvSpPr>
          <p:nvPr/>
        </p:nvSpPr>
        <p:spPr>
          <a:xfrm>
            <a:off x="1097280" y="5221224"/>
            <a:ext cx="10058400" cy="7284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800" dirty="0"/>
              <a:t>Dataset passed all data quality checks and was standardized for accurate analysis.</a:t>
            </a:r>
            <a:endParaRPr lang="en-IN" sz="2800" dirty="0"/>
          </a:p>
        </p:txBody>
      </p:sp>
      <p:sp>
        <p:nvSpPr>
          <p:cNvPr id="2" name="TextBox 1">
            <a:hlinkClick r:id="rId2" action="ppaction://hlinkfile"/>
            <a:extLst>
              <a:ext uri="{FF2B5EF4-FFF2-40B4-BE49-F238E27FC236}">
                <a16:creationId xmlns:a16="http://schemas.microsoft.com/office/drawing/2014/main" id="{712C0E25-240C-D8C9-8B2D-A3BAD0AB274E}"/>
              </a:ext>
            </a:extLst>
          </p:cNvPr>
          <p:cNvSpPr txBox="1"/>
          <p:nvPr/>
        </p:nvSpPr>
        <p:spPr>
          <a:xfrm>
            <a:off x="7284559" y="6529009"/>
            <a:ext cx="4907441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CTRL + Click here to view the query and the corresponding result.</a:t>
            </a:r>
          </a:p>
        </p:txBody>
      </p:sp>
    </p:spTree>
    <p:extLst>
      <p:ext uri="{BB962C8B-B14F-4D97-AF65-F5344CB8AC3E}">
        <p14:creationId xmlns:p14="http://schemas.microsoft.com/office/powerpoint/2010/main" val="103420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D96D07B1-DCC6-C32B-0FEF-C459F81C5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51293"/>
            <a:ext cx="5255505" cy="6038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Delivery Delay Analysis 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A89F0968-E16A-FA86-5526-2E519FAFAAFF}"/>
              </a:ext>
            </a:extLst>
          </p:cNvPr>
          <p:cNvSpPr txBox="1">
            <a:spLocks/>
          </p:cNvSpPr>
          <p:nvPr/>
        </p:nvSpPr>
        <p:spPr>
          <a:xfrm>
            <a:off x="5877113" y="1344364"/>
            <a:ext cx="5845492" cy="37076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u="sng" dirty="0"/>
              <a:t>Insights:</a:t>
            </a:r>
          </a:p>
          <a:p>
            <a:pPr>
              <a:buClr>
                <a:srgbClr val="0070C0"/>
              </a:buClr>
            </a:pPr>
            <a:r>
              <a:rPr lang="en-US" sz="1800" b="1" dirty="0">
                <a:solidFill>
                  <a:schemeClr val="tx1"/>
                </a:solidFill>
              </a:rPr>
              <a:t>Delays are common: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600" dirty="0">
                <a:solidFill>
                  <a:schemeClr val="tx1"/>
                </a:solidFill>
              </a:rPr>
              <a:t>Even though the average delay is less than 1 day (0.69 days), 44% of orders are delayed, which is a significant impact on customers.</a:t>
            </a:r>
          </a:p>
          <a:p>
            <a:pPr>
              <a:buClr>
                <a:srgbClr val="0070C0"/>
              </a:buClr>
            </a:pPr>
            <a:r>
              <a:rPr lang="en-US" sz="1800" b="1" dirty="0">
                <a:solidFill>
                  <a:schemeClr val="tx1"/>
                </a:solidFill>
              </a:rPr>
              <a:t>Few routes cause most delays: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600" dirty="0">
                <a:solidFill>
                  <a:schemeClr val="tx1"/>
                </a:solidFill>
              </a:rPr>
              <a:t>Routes R012 and R020 have the highest average delays, making them the main contributors to late deliveries.</a:t>
            </a:r>
          </a:p>
          <a:p>
            <a:pPr>
              <a:buClr>
                <a:srgbClr val="0070C0"/>
              </a:buClr>
            </a:pPr>
            <a:r>
              <a:rPr lang="en-US" sz="1800" b="1" dirty="0">
                <a:solidFill>
                  <a:schemeClr val="tx1"/>
                </a:solidFill>
              </a:rPr>
              <a:t>Warehouse delays are systemic: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600" dirty="0">
                <a:solidFill>
                  <a:schemeClr val="tx1"/>
                </a:solidFill>
              </a:rPr>
              <a:t>Multiple delayed orders occur within the same warehouses, showing process issues, not one‑time problems.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4F2457-6395-908A-2599-993F4C10F779}"/>
              </a:ext>
            </a:extLst>
          </p:cNvPr>
          <p:cNvSpPr/>
          <p:nvPr/>
        </p:nvSpPr>
        <p:spPr>
          <a:xfrm>
            <a:off x="7629145" y="150875"/>
            <a:ext cx="1417320" cy="79552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Avg Delay </a:t>
            </a:r>
          </a:p>
          <a:p>
            <a:pPr algn="ctr"/>
            <a:r>
              <a:rPr lang="en-US" dirty="0"/>
              <a:t>0.69 days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7A7009-B5AC-A635-6589-9109BB1B98EC}"/>
              </a:ext>
            </a:extLst>
          </p:cNvPr>
          <p:cNvSpPr/>
          <p:nvPr/>
        </p:nvSpPr>
        <p:spPr>
          <a:xfrm>
            <a:off x="6016752" y="155448"/>
            <a:ext cx="1417320" cy="79552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Delay Rate</a:t>
            </a:r>
          </a:p>
          <a:p>
            <a:pPr algn="ctr"/>
            <a:r>
              <a:rPr lang="en-US" dirty="0"/>
              <a:t>44%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4368D9-DC2E-62B0-D042-DDC6E747ADE2}"/>
              </a:ext>
            </a:extLst>
          </p:cNvPr>
          <p:cNvSpPr/>
          <p:nvPr/>
        </p:nvSpPr>
        <p:spPr>
          <a:xfrm>
            <a:off x="9238485" y="150875"/>
            <a:ext cx="2484120" cy="79552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Worst Route Avg Delay </a:t>
            </a:r>
          </a:p>
          <a:p>
            <a:pPr algn="ctr"/>
            <a:r>
              <a:rPr lang="en-US" dirty="0"/>
              <a:t>1.08 days (R012)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B1E9EC-5B11-474E-D07F-025331EB30B8}"/>
              </a:ext>
            </a:extLst>
          </p:cNvPr>
          <p:cNvCxnSpPr>
            <a:cxnSpLocks/>
          </p:cNvCxnSpPr>
          <p:nvPr/>
        </p:nvCxnSpPr>
        <p:spPr>
          <a:xfrm>
            <a:off x="5715000" y="150875"/>
            <a:ext cx="0" cy="8732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C43F57A2-C8CD-9467-AFD9-A609DE24D7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4469513"/>
              </p:ext>
            </p:extLst>
          </p:nvPr>
        </p:nvGraphicFramePr>
        <p:xfrm>
          <a:off x="254128" y="3884821"/>
          <a:ext cx="5241024" cy="2608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B5228F6F-CB4E-F75D-12A4-9F26F040D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813340"/>
              </p:ext>
            </p:extLst>
          </p:nvPr>
        </p:nvGraphicFramePr>
        <p:xfrm>
          <a:off x="254130" y="1161484"/>
          <a:ext cx="5248266" cy="2530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itle 5">
            <a:extLst>
              <a:ext uri="{FF2B5EF4-FFF2-40B4-BE49-F238E27FC236}">
                <a16:creationId xmlns:a16="http://schemas.microsoft.com/office/drawing/2014/main" id="{EE87213F-EF9D-8FDD-EC50-BFE12A4CAB3C}"/>
              </a:ext>
            </a:extLst>
          </p:cNvPr>
          <p:cNvSpPr txBox="1">
            <a:spLocks/>
          </p:cNvSpPr>
          <p:nvPr/>
        </p:nvSpPr>
        <p:spPr>
          <a:xfrm>
            <a:off x="5877113" y="5188857"/>
            <a:ext cx="5845492" cy="1207857"/>
          </a:xfrm>
          <a:prstGeom prst="rect">
            <a:avLst/>
          </a:prstGeom>
        </p:spPr>
        <p:txBody>
          <a:bodyPr vert="horz" lIns="0" tIns="45720" rIns="0" bIns="45720" rtlCol="0">
            <a:normAutofit fontScale="70000" lnSpcReduction="20000"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 sz="2800" b="1" u="sng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404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300228" lvl="2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600"/>
            </a:lvl3pPr>
            <a:lvl4pPr marL="74980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US" dirty="0"/>
              <a:t>Recommendation:</a:t>
            </a:r>
          </a:p>
          <a:p>
            <a:r>
              <a:rPr lang="en-US" sz="2600" b="0" u="none" dirty="0"/>
              <a:t>Focus first on routes R012 and R020 and review warehouse processes to reduce frequent delays and improve on‑time delivery.</a:t>
            </a:r>
            <a:endParaRPr lang="en-IN" sz="2600" b="0" u="none" dirty="0"/>
          </a:p>
        </p:txBody>
      </p:sp>
      <p:sp>
        <p:nvSpPr>
          <p:cNvPr id="2" name="TextBox 1">
            <a:hlinkClick r:id="rId5" action="ppaction://hlinkfile"/>
            <a:extLst>
              <a:ext uri="{FF2B5EF4-FFF2-40B4-BE49-F238E27FC236}">
                <a16:creationId xmlns:a16="http://schemas.microsoft.com/office/drawing/2014/main" id="{32DFEE4B-12E6-6123-3D80-A4A9E2243061}"/>
              </a:ext>
            </a:extLst>
          </p:cNvPr>
          <p:cNvSpPr txBox="1"/>
          <p:nvPr/>
        </p:nvSpPr>
        <p:spPr>
          <a:xfrm>
            <a:off x="7284980" y="6533513"/>
            <a:ext cx="4907020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CTRL + Click here to view the query and the corresponding result.</a:t>
            </a:r>
          </a:p>
        </p:txBody>
      </p:sp>
    </p:spTree>
    <p:extLst>
      <p:ext uri="{BB962C8B-B14F-4D97-AF65-F5344CB8AC3E}">
        <p14:creationId xmlns:p14="http://schemas.microsoft.com/office/powerpoint/2010/main" val="666674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4F2FF-164A-58CD-9029-02267639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F07B5E89-4BEA-CE42-16A7-1684E9770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2" y="100581"/>
            <a:ext cx="5078482" cy="7498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Route Optimization Analysis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957927-02BD-7AED-11EB-E543C119C131}"/>
              </a:ext>
            </a:extLst>
          </p:cNvPr>
          <p:cNvSpPr/>
          <p:nvPr/>
        </p:nvSpPr>
        <p:spPr>
          <a:xfrm>
            <a:off x="7653528" y="150874"/>
            <a:ext cx="2207803" cy="93830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Highest Avg Delivery Time:</a:t>
            </a:r>
          </a:p>
          <a:p>
            <a:pPr algn="ctr"/>
            <a:r>
              <a:rPr lang="en-US" sz="1400" dirty="0"/>
              <a:t>R015 (6.33 days), </a:t>
            </a:r>
          </a:p>
          <a:p>
            <a:pPr algn="ctr"/>
            <a:r>
              <a:rPr lang="en-US" sz="1400" dirty="0"/>
              <a:t>R017 (6.29 days)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D359AC-72A8-18E0-E4F6-D40AF4A9341B}"/>
              </a:ext>
            </a:extLst>
          </p:cNvPr>
          <p:cNvSpPr/>
          <p:nvPr/>
        </p:nvSpPr>
        <p:spPr>
          <a:xfrm>
            <a:off x="5536528" y="143139"/>
            <a:ext cx="2066873" cy="9383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Worst Efficiency Routes:</a:t>
            </a:r>
          </a:p>
          <a:p>
            <a:pPr algn="ctr"/>
            <a:r>
              <a:rPr lang="en-US" sz="1400" dirty="0"/>
              <a:t>R016 (0.15), </a:t>
            </a:r>
          </a:p>
          <a:p>
            <a:pPr algn="ctr"/>
            <a:r>
              <a:rPr lang="en-US" sz="1400" dirty="0"/>
              <a:t>R006 (0.16), </a:t>
            </a:r>
          </a:p>
          <a:p>
            <a:pPr algn="ctr"/>
            <a:r>
              <a:rPr lang="en-US" sz="1400" dirty="0"/>
              <a:t>R008 (0.24)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84A1B5-024F-D09B-5B3A-2E6702F03F5D}"/>
              </a:ext>
            </a:extLst>
          </p:cNvPr>
          <p:cNvSpPr/>
          <p:nvPr/>
        </p:nvSpPr>
        <p:spPr>
          <a:xfrm>
            <a:off x="9902314" y="150874"/>
            <a:ext cx="2239642" cy="9383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Highest Delay % Route:</a:t>
            </a:r>
          </a:p>
          <a:p>
            <a:pPr algn="ctr"/>
            <a:r>
              <a:rPr lang="en-US" sz="1400" dirty="0"/>
              <a:t>R020 </a:t>
            </a:r>
          </a:p>
          <a:p>
            <a:pPr algn="ctr"/>
            <a:r>
              <a:rPr lang="en-US" sz="1400" dirty="0"/>
              <a:t>(70.6% delayed shipments)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138499-CDFC-D2F5-8072-0E05C0005B41}"/>
              </a:ext>
            </a:extLst>
          </p:cNvPr>
          <p:cNvCxnSpPr>
            <a:cxnSpLocks/>
          </p:cNvCxnSpPr>
          <p:nvPr/>
        </p:nvCxnSpPr>
        <p:spPr>
          <a:xfrm>
            <a:off x="5257800" y="100581"/>
            <a:ext cx="0" cy="10023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C5D3168-F0DB-E851-19E3-689FAD0921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4818625"/>
              </p:ext>
            </p:extLst>
          </p:nvPr>
        </p:nvGraphicFramePr>
        <p:xfrm>
          <a:off x="50047" y="1210075"/>
          <a:ext cx="4002414" cy="2507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8F5C707-FE2D-F825-6B57-A19EA6E7D8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528601"/>
              </p:ext>
            </p:extLst>
          </p:nvPr>
        </p:nvGraphicFramePr>
        <p:xfrm>
          <a:off x="42158" y="3717201"/>
          <a:ext cx="3999487" cy="2811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DAE2F3A-052B-3CC0-92B1-189E5316F8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1425862"/>
              </p:ext>
            </p:extLst>
          </p:nvPr>
        </p:nvGraphicFramePr>
        <p:xfrm>
          <a:off x="4050789" y="1207856"/>
          <a:ext cx="3806314" cy="2509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476C06B4-D059-390C-B736-F7B7C3A90A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570248"/>
              </p:ext>
            </p:extLst>
          </p:nvPr>
        </p:nvGraphicFramePr>
        <p:xfrm>
          <a:off x="4041644" y="3717200"/>
          <a:ext cx="3806313" cy="2811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CCDEBA5-43E4-8E1C-2885-A89FF94E856D}"/>
              </a:ext>
            </a:extLst>
          </p:cNvPr>
          <p:cNvSpPr/>
          <p:nvPr/>
        </p:nvSpPr>
        <p:spPr>
          <a:xfrm>
            <a:off x="7933712" y="1174399"/>
            <a:ext cx="1888518" cy="80984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Highest traffic Routes:</a:t>
            </a:r>
          </a:p>
          <a:p>
            <a:pPr algn="ctr"/>
            <a:r>
              <a:rPr lang="en-US" sz="1400" dirty="0"/>
              <a:t>R014 (58 min avg), </a:t>
            </a:r>
          </a:p>
          <a:p>
            <a:pPr algn="ctr"/>
            <a:r>
              <a:rPr lang="en-US" sz="1400" dirty="0"/>
              <a:t>R007 (51 min avg) </a:t>
            </a: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1A9F4574-979D-CD81-774F-651378BCBB45}"/>
              </a:ext>
            </a:extLst>
          </p:cNvPr>
          <p:cNvSpPr txBox="1">
            <a:spLocks/>
          </p:cNvSpPr>
          <p:nvPr/>
        </p:nvSpPr>
        <p:spPr>
          <a:xfrm>
            <a:off x="8012230" y="2102295"/>
            <a:ext cx="4002414" cy="3128073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/>
              <a:t>Insights: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Some routes are highly inefficient: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Routes R016, R006, and R008 take a long time to cover short distances, increasing cost and inefficiency.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Long delivery times on specific routes: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Routes R015 and R017 take the longest time to complete deliveries, increasing customer wait time.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High delay frequency on many routes: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Routes like R020 and R012 have more than 60% delayed shipments, showing serious reliability issues.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B6FF31ED-092C-15E2-598C-6F713C685140}"/>
              </a:ext>
            </a:extLst>
          </p:cNvPr>
          <p:cNvSpPr txBox="1">
            <a:spLocks/>
          </p:cNvSpPr>
          <p:nvPr/>
        </p:nvSpPr>
        <p:spPr>
          <a:xfrm>
            <a:off x="8012230" y="5230368"/>
            <a:ext cx="4002414" cy="1147575"/>
          </a:xfrm>
          <a:prstGeom prst="rect">
            <a:avLst/>
          </a:prstGeom>
        </p:spPr>
        <p:txBody>
          <a:bodyPr vert="horz" lIns="0" tIns="45720" rIns="0" bIns="45720" rtlCol="0">
            <a:normAutofit fontScale="62500" lnSpcReduction="20000"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 sz="2800" b="1" u="sng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404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300228" lvl="2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600"/>
            </a:lvl3pPr>
            <a:lvl4pPr marL="74980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US" dirty="0"/>
              <a:t>Recommendation:</a:t>
            </a:r>
          </a:p>
          <a:p>
            <a:r>
              <a:rPr lang="en-US" sz="2600" b="0" u="none" dirty="0"/>
              <a:t>Prioritize optimization of routes R016, R006, and R008 for efficiency, and address high‑delay routes like R020 to improve delivery reliability.</a:t>
            </a:r>
            <a:endParaRPr lang="en-IN" sz="2600" b="0" u="none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7F31906-A868-9A9D-0316-974B1C1AE6FF}"/>
              </a:ext>
            </a:extLst>
          </p:cNvPr>
          <p:cNvSpPr/>
          <p:nvPr/>
        </p:nvSpPr>
        <p:spPr>
          <a:xfrm>
            <a:off x="9861331" y="1174399"/>
            <a:ext cx="2271477" cy="80984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Highest traffic Routes (Avg):</a:t>
            </a:r>
          </a:p>
          <a:p>
            <a:pPr algn="ctr"/>
            <a:r>
              <a:rPr lang="en-US" sz="1400" dirty="0"/>
              <a:t>R014 (58 min), </a:t>
            </a:r>
          </a:p>
          <a:p>
            <a:pPr algn="ctr"/>
            <a:r>
              <a:rPr lang="en-US" sz="1400" dirty="0"/>
              <a:t>R007 (51 min) </a:t>
            </a:r>
          </a:p>
        </p:txBody>
      </p:sp>
      <p:sp>
        <p:nvSpPr>
          <p:cNvPr id="3" name="TextBox 2">
            <a:hlinkClick r:id="rId7" action="ppaction://hlinkfile"/>
            <a:extLst>
              <a:ext uri="{FF2B5EF4-FFF2-40B4-BE49-F238E27FC236}">
                <a16:creationId xmlns:a16="http://schemas.microsoft.com/office/drawing/2014/main" id="{C3A1810F-590E-9197-D175-1616365106CA}"/>
              </a:ext>
            </a:extLst>
          </p:cNvPr>
          <p:cNvSpPr txBox="1"/>
          <p:nvPr/>
        </p:nvSpPr>
        <p:spPr>
          <a:xfrm>
            <a:off x="7284559" y="6529009"/>
            <a:ext cx="4907441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CTRL + Click here to view the query and the corresponding result.</a:t>
            </a:r>
          </a:p>
        </p:txBody>
      </p:sp>
    </p:spTree>
    <p:extLst>
      <p:ext uri="{BB962C8B-B14F-4D97-AF65-F5344CB8AC3E}">
        <p14:creationId xmlns:p14="http://schemas.microsoft.com/office/powerpoint/2010/main" val="3673102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90517-B6CC-4754-40E6-90BDE0A9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029407AE-D715-F999-DB5B-352E7AA9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3" y="100581"/>
            <a:ext cx="4464960" cy="10023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Warehouse Performance Analysis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EA0C21-37AF-F2CD-7ABE-3E0B7A581500}"/>
              </a:ext>
            </a:extLst>
          </p:cNvPr>
          <p:cNvSpPr/>
          <p:nvPr/>
        </p:nvSpPr>
        <p:spPr>
          <a:xfrm>
            <a:off x="6968279" y="79159"/>
            <a:ext cx="2814266" cy="10601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Bottleneck Warehouses </a:t>
            </a:r>
          </a:p>
          <a:p>
            <a:pPr algn="ctr"/>
            <a:r>
              <a:rPr lang="en-US" sz="1400" dirty="0"/>
              <a:t>(Above Avg Processing Time)</a:t>
            </a:r>
          </a:p>
          <a:p>
            <a:pPr algn="ctr"/>
            <a:r>
              <a:rPr lang="en-US" sz="1400" dirty="0"/>
              <a:t>W010, W009, W007, W008, W001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C201FD-7027-555E-9546-1FADBC987610}"/>
              </a:ext>
            </a:extLst>
          </p:cNvPr>
          <p:cNvSpPr/>
          <p:nvPr/>
        </p:nvSpPr>
        <p:spPr>
          <a:xfrm>
            <a:off x="4799952" y="51089"/>
            <a:ext cx="2066873" cy="110129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Slowest Warehouses </a:t>
            </a:r>
            <a:r>
              <a:rPr lang="en-US" sz="1400" dirty="0"/>
              <a:t>(Processing Time)</a:t>
            </a:r>
          </a:p>
          <a:p>
            <a:pPr algn="ctr"/>
            <a:r>
              <a:rPr lang="en-US" sz="1400" dirty="0"/>
              <a:t>W010 – 171 mins</a:t>
            </a:r>
          </a:p>
          <a:p>
            <a:pPr algn="ctr"/>
            <a:r>
              <a:rPr lang="en-US" sz="1400" dirty="0"/>
              <a:t>W009 – 170 mins</a:t>
            </a:r>
          </a:p>
          <a:p>
            <a:pPr algn="ctr"/>
            <a:r>
              <a:rPr lang="en-US" sz="1400" dirty="0"/>
              <a:t>W007 – 166 mins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7018CC-DDC8-33EC-9B88-9AF2401BC91E}"/>
              </a:ext>
            </a:extLst>
          </p:cNvPr>
          <p:cNvCxnSpPr>
            <a:cxnSpLocks/>
          </p:cNvCxnSpPr>
          <p:nvPr/>
        </p:nvCxnSpPr>
        <p:spPr>
          <a:xfrm>
            <a:off x="4617717" y="108079"/>
            <a:ext cx="0" cy="10023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2736826-47D2-85CF-09DE-C1BA0444F173}"/>
              </a:ext>
            </a:extLst>
          </p:cNvPr>
          <p:cNvSpPr/>
          <p:nvPr/>
        </p:nvSpPr>
        <p:spPr>
          <a:xfrm>
            <a:off x="9884000" y="86816"/>
            <a:ext cx="2286758" cy="10601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Lowest On‑Time Delivery</a:t>
            </a:r>
          </a:p>
          <a:p>
            <a:pPr algn="ctr"/>
            <a:r>
              <a:rPr lang="en-US" sz="1400" dirty="0"/>
              <a:t>W010 – 33.3% on‑time</a:t>
            </a: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0D7C7689-8A13-EF6E-E111-8606713419BE}"/>
              </a:ext>
            </a:extLst>
          </p:cNvPr>
          <p:cNvSpPr txBox="1">
            <a:spLocks/>
          </p:cNvSpPr>
          <p:nvPr/>
        </p:nvSpPr>
        <p:spPr>
          <a:xfrm>
            <a:off x="8012230" y="1385107"/>
            <a:ext cx="4002414" cy="36989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/>
              <a:t>Insights: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Some warehouses are slow: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Warehouses W010, W009, and W007 take the longest time to process shipments, slowing down deliveries.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Delays are uneven across warehouses: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Warehouses like W010 and W001 have a high number of delayed shipments compared to others.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Performance varies significantly: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While W008 performs best with the highest on‑time delivery rate, W010 performs worst, delivering on time only 33% of the time.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A66A5381-3187-4404-36C9-EC482BB6B01F}"/>
              </a:ext>
            </a:extLst>
          </p:cNvPr>
          <p:cNvSpPr txBox="1">
            <a:spLocks/>
          </p:cNvSpPr>
          <p:nvPr/>
        </p:nvSpPr>
        <p:spPr>
          <a:xfrm>
            <a:off x="8012230" y="5139319"/>
            <a:ext cx="4002414" cy="1334435"/>
          </a:xfrm>
          <a:prstGeom prst="rect">
            <a:avLst/>
          </a:prstGeom>
        </p:spPr>
        <p:txBody>
          <a:bodyPr vert="horz" lIns="0" tIns="45720" rIns="0" bIns="45720" rtlCol="0">
            <a:normAutofit fontScale="62500" lnSpcReduction="20000"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 sz="2800" b="1" u="sng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404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300228" lvl="2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600"/>
            </a:lvl3pPr>
            <a:lvl4pPr marL="74980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US" dirty="0"/>
              <a:t>Recommendation:</a:t>
            </a:r>
          </a:p>
          <a:p>
            <a:r>
              <a:rPr lang="en-US" sz="2600" b="0" u="none" dirty="0"/>
              <a:t>Prioritize process improvement in warehouses W010, W009, and W007 to reduce processing delays and improve overall on‑time delivery performance.</a:t>
            </a:r>
            <a:endParaRPr lang="en-IN" sz="2600" b="0" u="none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1A8AB23-5D4D-AB30-0377-C05F6431B9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6805191"/>
              </p:ext>
            </p:extLst>
          </p:nvPr>
        </p:nvGraphicFramePr>
        <p:xfrm>
          <a:off x="51303" y="1302812"/>
          <a:ext cx="3560566" cy="2507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7DAF4E8-F0C2-BA13-CB55-EAA56B8960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1729483"/>
              </p:ext>
            </p:extLst>
          </p:nvPr>
        </p:nvGraphicFramePr>
        <p:xfrm>
          <a:off x="3611869" y="1302811"/>
          <a:ext cx="4251960" cy="250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A020CA7-4F43-4311-3052-BCF2409A2D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0104231"/>
              </p:ext>
            </p:extLst>
          </p:nvPr>
        </p:nvGraphicFramePr>
        <p:xfrm>
          <a:off x="51302" y="3817591"/>
          <a:ext cx="3560566" cy="2738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9B54C81-D173-DBCE-BB66-0B78BD996D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3929798"/>
              </p:ext>
            </p:extLst>
          </p:nvPr>
        </p:nvGraphicFramePr>
        <p:xfrm>
          <a:off x="3611869" y="3817589"/>
          <a:ext cx="4251960" cy="2738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TextBox 6">
            <a:hlinkClick r:id="rId7" action="ppaction://hlinkfile"/>
            <a:extLst>
              <a:ext uri="{FF2B5EF4-FFF2-40B4-BE49-F238E27FC236}">
                <a16:creationId xmlns:a16="http://schemas.microsoft.com/office/drawing/2014/main" id="{B9CF7DB1-6F66-489E-95F9-9F00254C6DA8}"/>
              </a:ext>
            </a:extLst>
          </p:cNvPr>
          <p:cNvSpPr txBox="1"/>
          <p:nvPr/>
        </p:nvSpPr>
        <p:spPr>
          <a:xfrm>
            <a:off x="7284559" y="6529009"/>
            <a:ext cx="4907441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CTRL + Click here to view the query and the corresponding result.</a:t>
            </a:r>
          </a:p>
        </p:txBody>
      </p:sp>
    </p:spTree>
    <p:extLst>
      <p:ext uri="{BB962C8B-B14F-4D97-AF65-F5344CB8AC3E}">
        <p14:creationId xmlns:p14="http://schemas.microsoft.com/office/powerpoint/2010/main" val="251083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AC2E0-6BB2-C3E7-881C-55608D37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419B607A-E79C-9E3D-1172-7B6AE02A7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3" y="100581"/>
            <a:ext cx="4346962" cy="10023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Delivery Agent Performance Analysis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021F11-AF09-07E3-1CC4-55BBD9357762}"/>
              </a:ext>
            </a:extLst>
          </p:cNvPr>
          <p:cNvSpPr/>
          <p:nvPr/>
        </p:nvSpPr>
        <p:spPr>
          <a:xfrm>
            <a:off x="8961121" y="1196916"/>
            <a:ext cx="3179577" cy="831856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Low Performing Agents</a:t>
            </a:r>
          </a:p>
          <a:p>
            <a:pPr algn="ctr"/>
            <a:r>
              <a:rPr lang="en-US" sz="1400" dirty="0"/>
              <a:t>20 agents have on‑time delivery below 80%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BEFFA6-D63B-E0D9-FBB0-5FD809AF976B}"/>
              </a:ext>
            </a:extLst>
          </p:cNvPr>
          <p:cNvSpPr/>
          <p:nvPr/>
        </p:nvSpPr>
        <p:spPr>
          <a:xfrm>
            <a:off x="9939535" y="100582"/>
            <a:ext cx="2201158" cy="10023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Best Agent Performance </a:t>
            </a:r>
          </a:p>
          <a:p>
            <a:pPr algn="ctr"/>
            <a:r>
              <a:rPr lang="en-US" sz="1400" dirty="0"/>
              <a:t>(&gt;99% on‑time delivery)</a:t>
            </a:r>
          </a:p>
          <a:p>
            <a:pPr algn="ctr"/>
            <a:r>
              <a:rPr lang="en-US" sz="1400" dirty="0"/>
              <a:t>A014, A049, A032, A007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B374E1-15F7-F051-D1A8-314D07C4C4DB}"/>
              </a:ext>
            </a:extLst>
          </p:cNvPr>
          <p:cNvCxnSpPr>
            <a:cxnSpLocks/>
          </p:cNvCxnSpPr>
          <p:nvPr/>
        </p:nvCxnSpPr>
        <p:spPr>
          <a:xfrm>
            <a:off x="4526274" y="100581"/>
            <a:ext cx="0" cy="10023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F28E0F-07F6-64F0-DDE5-456C0E4C60F7}"/>
              </a:ext>
            </a:extLst>
          </p:cNvPr>
          <p:cNvSpPr/>
          <p:nvPr/>
        </p:nvSpPr>
        <p:spPr>
          <a:xfrm>
            <a:off x="8961121" y="2112977"/>
            <a:ext cx="3179577" cy="831856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Speed Comparison</a:t>
            </a:r>
          </a:p>
          <a:p>
            <a:pPr algn="ctr"/>
            <a:r>
              <a:rPr lang="en-US" sz="1400" dirty="0"/>
              <a:t>Top 5 Agents Avg Speed: 60 km/hr.</a:t>
            </a:r>
          </a:p>
          <a:p>
            <a:pPr algn="ctr"/>
            <a:r>
              <a:rPr lang="en-US" sz="1400" dirty="0"/>
              <a:t>Bottom 5 Agents Avg Speed: 56.8 km/hr.</a:t>
            </a: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1D926E69-593C-A480-79E5-6F0318F6FB2A}"/>
              </a:ext>
            </a:extLst>
          </p:cNvPr>
          <p:cNvSpPr txBox="1">
            <a:spLocks/>
          </p:cNvSpPr>
          <p:nvPr/>
        </p:nvSpPr>
        <p:spPr>
          <a:xfrm>
            <a:off x="4809744" y="3047327"/>
            <a:ext cx="7204900" cy="2411856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/>
              <a:t>Insights: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Agent performance varies by route: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Some agents consistently perform better than others on the same routes.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Several agents underperform: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Around 20 agents have on‑time delivery below 80%, indicating a need for performance improvement.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Speed alone is not enough: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Top agents are only slightly faster than bottom agents, showing that reliability matters more than speed.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5A115338-DFE6-B944-4657-6E38AD4CE352}"/>
              </a:ext>
            </a:extLst>
          </p:cNvPr>
          <p:cNvSpPr txBox="1">
            <a:spLocks/>
          </p:cNvSpPr>
          <p:nvPr/>
        </p:nvSpPr>
        <p:spPr>
          <a:xfrm>
            <a:off x="4809744" y="5400052"/>
            <a:ext cx="7204900" cy="10039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 sz="2800" b="1" u="sng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404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300228" lvl="2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600"/>
            </a:lvl3pPr>
            <a:lvl4pPr marL="74980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US" sz="2000" dirty="0"/>
              <a:t>Recommendation:</a:t>
            </a:r>
          </a:p>
          <a:p>
            <a:r>
              <a:rPr lang="en-US" sz="1400" b="0" u="none" dirty="0"/>
              <a:t>Provide training and monitoring for agents with on‑time delivery below 80%, and use best‑performing agents as benchmarks to improve overall delivery reliability.</a:t>
            </a:r>
            <a:endParaRPr lang="en-IN" sz="1400" b="0" u="none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96FE482-1A16-4D0B-7755-D996F31E97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895028"/>
              </p:ext>
            </p:extLst>
          </p:nvPr>
        </p:nvGraphicFramePr>
        <p:xfrm>
          <a:off x="51301" y="1302811"/>
          <a:ext cx="457199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61A1D35-F1D5-DDB6-C32F-82F10B7CB7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5527834"/>
              </p:ext>
            </p:extLst>
          </p:nvPr>
        </p:nvGraphicFramePr>
        <p:xfrm>
          <a:off x="51301" y="4125451"/>
          <a:ext cx="4571999" cy="232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7D3BE132-D7E2-08CC-9B3E-EB08B93AD3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7412584"/>
              </p:ext>
            </p:extLst>
          </p:nvPr>
        </p:nvGraphicFramePr>
        <p:xfrm>
          <a:off x="4726308" y="1302811"/>
          <a:ext cx="4015355" cy="1668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C88F87E-91AD-E401-CF26-AFBD04F60EF4}"/>
              </a:ext>
            </a:extLst>
          </p:cNvPr>
          <p:cNvSpPr/>
          <p:nvPr/>
        </p:nvSpPr>
        <p:spPr>
          <a:xfrm>
            <a:off x="4726307" y="100581"/>
            <a:ext cx="1369691" cy="100231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Total Agents</a:t>
            </a:r>
          </a:p>
          <a:p>
            <a:pPr algn="ctr"/>
            <a:r>
              <a:rPr lang="en-US" sz="1400" dirty="0"/>
              <a:t>50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37BF852-85CD-F088-32CA-754BCD22AC4F}"/>
              </a:ext>
            </a:extLst>
          </p:cNvPr>
          <p:cNvSpPr/>
          <p:nvPr/>
        </p:nvSpPr>
        <p:spPr>
          <a:xfrm>
            <a:off x="6158868" y="100580"/>
            <a:ext cx="1369691" cy="100231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Avg Speed</a:t>
            </a:r>
          </a:p>
          <a:p>
            <a:pPr algn="ctr"/>
            <a:r>
              <a:rPr lang="en-US" sz="1400" dirty="0"/>
              <a:t>58.78 km/hr.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03865EC-6CB7-08E2-AFFF-9C714B3C1279}"/>
              </a:ext>
            </a:extLst>
          </p:cNvPr>
          <p:cNvSpPr/>
          <p:nvPr/>
        </p:nvSpPr>
        <p:spPr>
          <a:xfrm>
            <a:off x="7601717" y="100581"/>
            <a:ext cx="2264659" cy="100231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Total Agents whose</a:t>
            </a:r>
          </a:p>
          <a:p>
            <a:pPr algn="ctr"/>
            <a:r>
              <a:rPr lang="en-US" sz="1400" dirty="0"/>
              <a:t>(Speed &gt; Avg Speed) - 27</a:t>
            </a:r>
          </a:p>
          <a:p>
            <a:pPr algn="ctr"/>
            <a:r>
              <a:rPr lang="en-US" sz="1400" dirty="0"/>
              <a:t>(Speed &lt; Avg Speed) - 23</a:t>
            </a:r>
          </a:p>
        </p:txBody>
      </p:sp>
      <p:sp>
        <p:nvSpPr>
          <p:cNvPr id="3" name="TextBox 2">
            <a:hlinkClick r:id="rId6" action="ppaction://hlinkfile"/>
            <a:extLst>
              <a:ext uri="{FF2B5EF4-FFF2-40B4-BE49-F238E27FC236}">
                <a16:creationId xmlns:a16="http://schemas.microsoft.com/office/drawing/2014/main" id="{00E3BC91-37B7-541D-6B2D-3DD91B8441EB}"/>
              </a:ext>
            </a:extLst>
          </p:cNvPr>
          <p:cNvSpPr txBox="1"/>
          <p:nvPr/>
        </p:nvSpPr>
        <p:spPr>
          <a:xfrm>
            <a:off x="7284559" y="6529009"/>
            <a:ext cx="4907441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CTRL + Click here to view the query and the corresponding result.</a:t>
            </a:r>
          </a:p>
        </p:txBody>
      </p:sp>
    </p:spTree>
    <p:extLst>
      <p:ext uri="{BB962C8B-B14F-4D97-AF65-F5344CB8AC3E}">
        <p14:creationId xmlns:p14="http://schemas.microsoft.com/office/powerpoint/2010/main" val="2118493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A113-F17F-E90E-E51E-9E678EC7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803F8A74-F74C-33F4-F697-48791306F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3" y="100581"/>
            <a:ext cx="4274940" cy="10023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Shipment Tracking Analytics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3057B3-C7C8-56B0-9A67-76A2A9C4F2E3}"/>
              </a:ext>
            </a:extLst>
          </p:cNvPr>
          <p:cNvCxnSpPr>
            <a:cxnSpLocks/>
          </p:cNvCxnSpPr>
          <p:nvPr/>
        </p:nvCxnSpPr>
        <p:spPr>
          <a:xfrm>
            <a:off x="4526274" y="100581"/>
            <a:ext cx="0" cy="10023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081B06C5-846F-F8BC-D8A4-6887D60E18A5}"/>
              </a:ext>
            </a:extLst>
          </p:cNvPr>
          <p:cNvSpPr txBox="1">
            <a:spLocks/>
          </p:cNvSpPr>
          <p:nvPr/>
        </p:nvSpPr>
        <p:spPr>
          <a:xfrm>
            <a:off x="4809744" y="1682496"/>
            <a:ext cx="7204900" cy="2858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/>
              <a:t>Insights: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Sorting delay is the biggest issue: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It is the #1 cause of checkpoint delays, meaning internal hub/sorting operations need attention.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Delay are caused by multiple sources: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Weather and traffic are almost as frequent, so delays aren’t caused by only one factor.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Some orders face repeated disruption: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Several orders have 4–5 delayed checkpoints, making them high-risk shipments that need monitoring.`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C1D7FEC6-758B-93F5-881C-865D0B5472B4}"/>
              </a:ext>
            </a:extLst>
          </p:cNvPr>
          <p:cNvSpPr txBox="1">
            <a:spLocks/>
          </p:cNvSpPr>
          <p:nvPr/>
        </p:nvSpPr>
        <p:spPr>
          <a:xfrm>
            <a:off x="4809744" y="4874675"/>
            <a:ext cx="7204900" cy="10039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 sz="2800" b="1" u="sng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404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300228" lvl="2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600"/>
            </a:lvl3pPr>
            <a:lvl4pPr marL="74980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US" sz="2000" dirty="0"/>
              <a:t>Recommendation:</a:t>
            </a:r>
          </a:p>
          <a:p>
            <a:r>
              <a:rPr lang="en-US" sz="1400" b="0" u="none" dirty="0"/>
              <a:t>Prioritize reducing sorting delays at hubs and actively monitor high-risk orders (4–5 delayed checkpoints) for faster escalation and rerouting.</a:t>
            </a:r>
            <a:endParaRPr lang="en-IN" sz="1400" b="0" u="none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39F4EE-8B00-A49E-F5C9-973AEFECDA8D}"/>
              </a:ext>
            </a:extLst>
          </p:cNvPr>
          <p:cNvSpPr/>
          <p:nvPr/>
        </p:nvSpPr>
        <p:spPr>
          <a:xfrm>
            <a:off x="4726306" y="100581"/>
            <a:ext cx="2374385" cy="100231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Total Shipment: </a:t>
            </a:r>
            <a:r>
              <a:rPr lang="en-US" sz="1400" dirty="0"/>
              <a:t>1040</a:t>
            </a:r>
          </a:p>
          <a:p>
            <a:pPr algn="ctr"/>
            <a:r>
              <a:rPr lang="en-US" sz="1400" b="1" dirty="0"/>
              <a:t>Total Delay Orders:</a:t>
            </a:r>
            <a:r>
              <a:rPr lang="en-US" sz="1400" dirty="0"/>
              <a:t> 782</a:t>
            </a:r>
          </a:p>
          <a:p>
            <a:pPr algn="ctr"/>
            <a:r>
              <a:rPr lang="en-US" sz="1400" b="1" dirty="0"/>
              <a:t>Total No Delay Orders:</a:t>
            </a:r>
            <a:r>
              <a:rPr lang="en-US" sz="1400" dirty="0"/>
              <a:t> 258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6BDC34-320B-0FCD-DB83-2BBFBC144E62}"/>
              </a:ext>
            </a:extLst>
          </p:cNvPr>
          <p:cNvSpPr/>
          <p:nvPr/>
        </p:nvSpPr>
        <p:spPr>
          <a:xfrm>
            <a:off x="7222625" y="110400"/>
            <a:ext cx="2451725" cy="100231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Delay causes:</a:t>
            </a:r>
          </a:p>
          <a:p>
            <a:pPr algn="ctr"/>
            <a:r>
              <a:rPr lang="en-US" sz="1400" dirty="0"/>
              <a:t>Sorting: 272 ( 34.8% Highest)</a:t>
            </a:r>
          </a:p>
          <a:p>
            <a:pPr algn="ctr"/>
            <a:r>
              <a:rPr lang="en-US" sz="1400" dirty="0"/>
              <a:t>Weather: 263 (33.6%)</a:t>
            </a:r>
          </a:p>
          <a:p>
            <a:pPr algn="ctr"/>
            <a:r>
              <a:rPr lang="en-US" sz="1400" dirty="0"/>
              <a:t>Traffic: 247 (31.6%)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884986C-7B76-FDA7-718F-868FAF848E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313720"/>
              </p:ext>
            </p:extLst>
          </p:nvPr>
        </p:nvGraphicFramePr>
        <p:xfrm>
          <a:off x="177355" y="4350370"/>
          <a:ext cx="4411790" cy="2053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1B29CA4-9C85-B9A5-006B-BFC8242CACC7}"/>
              </a:ext>
            </a:extLst>
          </p:cNvPr>
          <p:cNvSpPr/>
          <p:nvPr/>
        </p:nvSpPr>
        <p:spPr>
          <a:xfrm>
            <a:off x="9796283" y="100581"/>
            <a:ext cx="2218361" cy="100231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High risk orders:</a:t>
            </a:r>
          </a:p>
          <a:p>
            <a:pPr algn="ctr"/>
            <a:r>
              <a:rPr lang="en-US" sz="1400" dirty="0"/>
              <a:t>65 orders has 5 delays</a:t>
            </a:r>
          </a:p>
          <a:p>
            <a:pPr algn="ctr"/>
            <a:r>
              <a:rPr lang="en-US" sz="1400" dirty="0"/>
              <a:t>228 orders has 4 delays</a:t>
            </a: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45027A02-ED6D-B99A-9872-F38D557936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5240384"/>
              </p:ext>
            </p:extLst>
          </p:nvPr>
        </p:nvGraphicFramePr>
        <p:xfrm>
          <a:off x="177354" y="1499616"/>
          <a:ext cx="4411785" cy="2756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>
            <a:hlinkClick r:id="rId5" action="ppaction://hlinkfile"/>
            <a:extLst>
              <a:ext uri="{FF2B5EF4-FFF2-40B4-BE49-F238E27FC236}">
                <a16:creationId xmlns:a16="http://schemas.microsoft.com/office/drawing/2014/main" id="{9EEDD5A8-C3D6-9E70-1AE1-12A0BE4DA236}"/>
              </a:ext>
            </a:extLst>
          </p:cNvPr>
          <p:cNvSpPr txBox="1"/>
          <p:nvPr/>
        </p:nvSpPr>
        <p:spPr>
          <a:xfrm>
            <a:off x="7284559" y="6529009"/>
            <a:ext cx="4907441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CTRL + Click here to view the query and the corresponding result.</a:t>
            </a:r>
          </a:p>
        </p:txBody>
      </p:sp>
    </p:spTree>
    <p:extLst>
      <p:ext uri="{BB962C8B-B14F-4D97-AF65-F5344CB8AC3E}">
        <p14:creationId xmlns:p14="http://schemas.microsoft.com/office/powerpoint/2010/main" val="3188619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092A3-8D42-86D8-F4DA-1248E9EC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3056F718-0062-6750-BF2B-53B366526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3" y="100581"/>
            <a:ext cx="4274940" cy="10023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KPI Summary – 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Delivery Performance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C48697-BA3F-6806-0CD7-3CB9C567A6A6}"/>
              </a:ext>
            </a:extLst>
          </p:cNvPr>
          <p:cNvCxnSpPr>
            <a:cxnSpLocks/>
          </p:cNvCxnSpPr>
          <p:nvPr/>
        </p:nvCxnSpPr>
        <p:spPr>
          <a:xfrm>
            <a:off x="4526274" y="100581"/>
            <a:ext cx="0" cy="10023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17235FD3-C2A0-495C-4D43-08DAEB417BCA}"/>
              </a:ext>
            </a:extLst>
          </p:cNvPr>
          <p:cNvSpPr txBox="1">
            <a:spLocks/>
          </p:cNvSpPr>
          <p:nvPr/>
        </p:nvSpPr>
        <p:spPr>
          <a:xfrm>
            <a:off x="4809744" y="1682496"/>
            <a:ext cx="7204900" cy="2858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/>
              <a:t>Insights: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Overall performance needs improvement: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Overall delivery performance is below target, with only 56% on‑time deliveries.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Delays vary by region: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Regions like West </a:t>
            </a:r>
            <a:r>
              <a:rPr lang="en-US" sz="1400" dirty="0" err="1">
                <a:solidFill>
                  <a:schemeClr val="tx1"/>
                </a:solidFill>
              </a:rPr>
              <a:t>Calvinview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dirty="0" err="1">
                <a:solidFill>
                  <a:schemeClr val="tx1"/>
                </a:solidFill>
              </a:rPr>
              <a:t>Juliestad</a:t>
            </a:r>
            <a:r>
              <a:rPr lang="en-US" sz="1400" dirty="0">
                <a:solidFill>
                  <a:schemeClr val="tx1"/>
                </a:solidFill>
              </a:rPr>
              <a:t> experience the highest average delivery delays.</a:t>
            </a:r>
          </a:p>
          <a:p>
            <a:pPr>
              <a:buClr>
                <a:srgbClr val="0070C0"/>
              </a:buClr>
            </a:pPr>
            <a:r>
              <a:rPr lang="en-US" sz="1600" b="1" dirty="0">
                <a:solidFill>
                  <a:schemeClr val="tx1"/>
                </a:solidFill>
              </a:rPr>
              <a:t>Traffic congestion is a major factor:</a:t>
            </a:r>
          </a:p>
          <a:p>
            <a:pPr marL="201168" lvl="1" indent="0">
              <a:buClr>
                <a:srgbClr val="0070C0"/>
              </a:buClr>
              <a:buNone/>
            </a:pPr>
            <a:r>
              <a:rPr lang="en-US" sz="1400" dirty="0">
                <a:solidFill>
                  <a:schemeClr val="tx1"/>
                </a:solidFill>
              </a:rPr>
              <a:t>Routes R014, R007, and R009 face the highest traffic delays, increasing delivery risk.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AB8EB6B1-F323-A733-87F0-1838FCEB7CE6}"/>
              </a:ext>
            </a:extLst>
          </p:cNvPr>
          <p:cNvSpPr txBox="1">
            <a:spLocks/>
          </p:cNvSpPr>
          <p:nvPr/>
        </p:nvSpPr>
        <p:spPr>
          <a:xfrm>
            <a:off x="4725548" y="4227771"/>
            <a:ext cx="7204900" cy="100231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 sz="2800" b="1" u="sng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404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300228" lvl="2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600"/>
            </a:lvl3pPr>
            <a:lvl4pPr marL="74980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US" sz="2000" dirty="0"/>
              <a:t>Recommendation:</a:t>
            </a:r>
          </a:p>
          <a:p>
            <a:r>
              <a:rPr lang="en-US" sz="1400" b="0" u="none" dirty="0"/>
              <a:t>Focus on improving delivery performance in high‑delay regions and optimize traffic‑heavy routes to increase the overall on‑time delivery rate.</a:t>
            </a:r>
            <a:endParaRPr lang="en-IN" sz="1400" b="0" u="none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D8238E-794B-431C-495C-B1657D04FEBA}"/>
              </a:ext>
            </a:extLst>
          </p:cNvPr>
          <p:cNvSpPr/>
          <p:nvPr/>
        </p:nvSpPr>
        <p:spPr>
          <a:xfrm>
            <a:off x="4725548" y="110400"/>
            <a:ext cx="2038911" cy="100231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Overall Delivery</a:t>
            </a:r>
          </a:p>
          <a:p>
            <a:pPr algn="ctr"/>
            <a:r>
              <a:rPr lang="en-US" sz="1400" dirty="0"/>
              <a:t>56% On‑Time Delivery</a:t>
            </a:r>
          </a:p>
          <a:p>
            <a:pPr algn="ctr"/>
            <a:r>
              <a:rPr lang="en-US" sz="1400" dirty="0"/>
              <a:t>44% Deliveries Delayed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D7586A3-2D43-4CE5-A8DB-60AA90C629BF}"/>
              </a:ext>
            </a:extLst>
          </p:cNvPr>
          <p:cNvSpPr/>
          <p:nvPr/>
        </p:nvSpPr>
        <p:spPr>
          <a:xfrm>
            <a:off x="9440228" y="100580"/>
            <a:ext cx="2574416" cy="100231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Highest Avg Delay Regions</a:t>
            </a:r>
          </a:p>
          <a:p>
            <a:pPr algn="ctr"/>
            <a:r>
              <a:rPr lang="en-US" sz="1400" dirty="0"/>
              <a:t>West </a:t>
            </a:r>
            <a:r>
              <a:rPr lang="en-US" sz="1400" dirty="0" err="1"/>
              <a:t>Calvinview</a:t>
            </a:r>
            <a:r>
              <a:rPr lang="en-US" sz="1400" dirty="0"/>
              <a:t> – 1.08 days</a:t>
            </a:r>
          </a:p>
          <a:p>
            <a:pPr algn="ctr"/>
            <a:r>
              <a:rPr lang="en-US" sz="1400" dirty="0" err="1"/>
              <a:t>Juliestad</a:t>
            </a:r>
            <a:r>
              <a:rPr lang="en-US" sz="1400" dirty="0"/>
              <a:t> – 1.06 days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7709135-6B99-AF7A-4D04-1C58844687FD}"/>
              </a:ext>
            </a:extLst>
          </p:cNvPr>
          <p:cNvSpPr/>
          <p:nvPr/>
        </p:nvSpPr>
        <p:spPr>
          <a:xfrm>
            <a:off x="6915151" y="110399"/>
            <a:ext cx="2374384" cy="100231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Highest Traffic Delay Routes</a:t>
            </a:r>
          </a:p>
          <a:p>
            <a:pPr algn="ctr"/>
            <a:r>
              <a:rPr lang="en-US" sz="1400" dirty="0"/>
              <a:t>R014 – 58 min</a:t>
            </a:r>
          </a:p>
          <a:p>
            <a:pPr algn="ctr"/>
            <a:r>
              <a:rPr lang="en-US" sz="1400" dirty="0"/>
              <a:t>R007 – 51 min</a:t>
            </a:r>
          </a:p>
          <a:p>
            <a:pPr algn="ctr"/>
            <a:r>
              <a:rPr lang="en-US" sz="1400" dirty="0"/>
              <a:t>R009 – 46 min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994C658-8C10-D2C6-2A66-856C8F3661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661275"/>
              </p:ext>
            </p:extLst>
          </p:nvPr>
        </p:nvGraphicFramePr>
        <p:xfrm>
          <a:off x="177355" y="1225491"/>
          <a:ext cx="4411790" cy="300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C9814D3-EAFE-EE82-2857-4521198F55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4206004"/>
              </p:ext>
            </p:extLst>
          </p:nvPr>
        </p:nvGraphicFramePr>
        <p:xfrm>
          <a:off x="177355" y="4350370"/>
          <a:ext cx="4411789" cy="2311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DEF615-E1AB-75DD-88B9-015D5466F8C4}"/>
              </a:ext>
            </a:extLst>
          </p:cNvPr>
          <p:cNvSpPr/>
          <p:nvPr/>
        </p:nvSpPr>
        <p:spPr>
          <a:xfrm>
            <a:off x="9440228" y="1181339"/>
            <a:ext cx="2574416" cy="100231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Worst region avg delay = 1.08 </a:t>
            </a:r>
          </a:p>
          <a:p>
            <a:pPr algn="ctr"/>
            <a:r>
              <a:rPr lang="en-US" sz="1400" dirty="0"/>
              <a:t>vs best region delay = 0.42</a:t>
            </a:r>
          </a:p>
          <a:p>
            <a:pPr algn="ctr"/>
            <a:r>
              <a:rPr lang="en-US" sz="1400" b="1" dirty="0"/>
              <a:t> ( gap 0.66 days )</a:t>
            </a:r>
            <a:endParaRPr lang="en-US" sz="1400" dirty="0"/>
          </a:p>
        </p:txBody>
      </p:sp>
      <p:sp>
        <p:nvSpPr>
          <p:cNvPr id="6" name="TextBox 5">
            <a:hlinkClick r:id="rId5" action="ppaction://hlinkfile"/>
            <a:extLst>
              <a:ext uri="{FF2B5EF4-FFF2-40B4-BE49-F238E27FC236}">
                <a16:creationId xmlns:a16="http://schemas.microsoft.com/office/drawing/2014/main" id="{7D834079-C029-E5F8-05C4-B047E96AA6DC}"/>
              </a:ext>
            </a:extLst>
          </p:cNvPr>
          <p:cNvSpPr txBox="1"/>
          <p:nvPr/>
        </p:nvSpPr>
        <p:spPr>
          <a:xfrm>
            <a:off x="7284559" y="6529009"/>
            <a:ext cx="4907441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CTRL + Click here to view the query and the corresponding result.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FC100450-29A0-D168-3F31-94B2804D7165}"/>
              </a:ext>
            </a:extLst>
          </p:cNvPr>
          <p:cNvSpPr txBox="1">
            <a:spLocks/>
          </p:cNvSpPr>
          <p:nvPr/>
        </p:nvSpPr>
        <p:spPr>
          <a:xfrm>
            <a:off x="4725548" y="5393101"/>
            <a:ext cx="7204900" cy="857376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horz" lIns="0" tIns="45720" rIns="0" bIns="45720" rtlCol="0">
            <a:norm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 sz="2800" b="1" u="sng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404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300228" lvl="2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600"/>
            </a:lvl3pPr>
            <a:lvl4pPr marL="74980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US" sz="2000" dirty="0"/>
              <a:t>Video Summary :</a:t>
            </a:r>
          </a:p>
          <a:p>
            <a:r>
              <a:rPr lang="en-US" sz="1400" b="0" u="none" dirty="0">
                <a:hlinkClick r:id="rId6"/>
              </a:rPr>
              <a:t> https://www.loom.com/share/9fd9a4c278d7485586d100c4efc4a8bf</a:t>
            </a:r>
            <a:endParaRPr lang="en-IN" sz="1400" b="0" u="none" dirty="0"/>
          </a:p>
        </p:txBody>
      </p:sp>
    </p:spTree>
    <p:extLst>
      <p:ext uri="{BB962C8B-B14F-4D97-AF65-F5344CB8AC3E}">
        <p14:creationId xmlns:p14="http://schemas.microsoft.com/office/powerpoint/2010/main" val="39446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A7C45DDD-A694-4705-892B-497F786E968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b="34517"/>
          <a:stretch>
            <a:fillRect/>
          </a:stretch>
        </p:blipFill>
        <p:spPr>
          <a:xfrm>
            <a:off x="15" y="0"/>
            <a:ext cx="12191985" cy="4581144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444079D-629C-4C44-8DB6-B4B5E7C5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6400858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9031</TotalTime>
  <Words>1271</Words>
  <Application>Microsoft Office PowerPoint</Application>
  <PresentationFormat>Widescreen</PresentationFormat>
  <Paragraphs>180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Wingdings</vt:lpstr>
      <vt:lpstr>RetrospectVTI</vt:lpstr>
      <vt:lpstr>DHEERAJ MARMAT</vt:lpstr>
      <vt:lpstr> Data Cleaning &amp; Preparation </vt:lpstr>
      <vt:lpstr>Delivery Delay Analysis </vt:lpstr>
      <vt:lpstr>Route Optimization Analysis </vt:lpstr>
      <vt:lpstr>Warehouse Performance Analysis</vt:lpstr>
      <vt:lpstr>Delivery Agent Performance Analysis</vt:lpstr>
      <vt:lpstr>Shipment Tracking Analytics</vt:lpstr>
      <vt:lpstr>KPI Summary –  Delivery Performance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Dheeraj Marmat [MCA - 2023]</dc:creator>
  <cp:lastModifiedBy>Dheeraj Marmat [MCA - 2023]</cp:lastModifiedBy>
  <cp:revision>53</cp:revision>
  <dcterms:created xsi:type="dcterms:W3CDTF">2026-03-31T13:32:37Z</dcterms:created>
  <dcterms:modified xsi:type="dcterms:W3CDTF">2026-04-15T19:58:31Z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